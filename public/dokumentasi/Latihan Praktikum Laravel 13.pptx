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nton" charset="1" panose="00000500000000000000"/>
      <p:regular r:id="rId17"/>
    </p:embeddedFont>
    <p:embeddedFont>
      <p:font typeface="Anantason SemiCondensed Bold" charset="1" panose="00000000000000000000"/>
      <p:regular r:id="rId18"/>
    </p:embeddedFont>
    <p:embeddedFont>
      <p:font typeface="ITC Bauhaus Bold" charset="1" panose="04020805020B02020C02"/>
      <p:regular r:id="rId19"/>
    </p:embeddedFont>
    <p:embeddedFont>
      <p:font typeface="Anantason SemiCondensed Light" charset="1" panose="00000000000000000000"/>
      <p:regular r:id="rId20"/>
    </p:embeddedFont>
    <p:embeddedFont>
      <p:font typeface="Anantason SemiCondensed"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2.png" Type="http://schemas.openxmlformats.org/officeDocument/2006/relationships/image"/><Relationship Id="rId13" Target="../embeddings/oleObject1.bin" Type="http://schemas.openxmlformats.org/officeDocument/2006/relationships/oleObjec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3.png" Type="http://schemas.openxmlformats.org/officeDocument/2006/relationships/image"/><Relationship Id="rId13" Target="../media/image14.png" Type="http://schemas.openxmlformats.org/officeDocument/2006/relationships/image"/><Relationship Id="rId14" Target="../media/image15.png" Type="http://schemas.openxmlformats.org/officeDocument/2006/relationships/image"/><Relationship Id="rId15" Target="../media/image1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7.png" Type="http://schemas.openxmlformats.org/officeDocument/2006/relationships/image"/><Relationship Id="rId13" Target="../media/image18.png" Type="http://schemas.openxmlformats.org/officeDocument/2006/relationships/image"/><Relationship Id="rId14" Target="../media/image19.png" Type="http://schemas.openxmlformats.org/officeDocument/2006/relationships/image"/><Relationship Id="rId15"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5067" y="-2762656"/>
            <a:ext cx="20304161" cy="20304161"/>
          </a:xfrm>
          <a:custGeom>
            <a:avLst/>
            <a:gdLst/>
            <a:ahLst/>
            <a:cxnLst/>
            <a:rect r="r" b="b" t="t" l="l"/>
            <a:pathLst>
              <a:path h="20304161" w="20304161">
                <a:moveTo>
                  <a:pt x="0" y="0"/>
                </a:moveTo>
                <a:lnTo>
                  <a:pt x="20304161" y="0"/>
                </a:lnTo>
                <a:lnTo>
                  <a:pt x="20304161" y="20304161"/>
                </a:lnTo>
                <a:lnTo>
                  <a:pt x="0" y="20304161"/>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308369" y="-3754332"/>
            <a:ext cx="9671263" cy="17730649"/>
          </a:xfrm>
          <a:custGeom>
            <a:avLst/>
            <a:gdLst/>
            <a:ahLst/>
            <a:cxnLst/>
            <a:rect r="r" b="b" t="t" l="l"/>
            <a:pathLst>
              <a:path h="17730649" w="9671263">
                <a:moveTo>
                  <a:pt x="0" y="0"/>
                </a:moveTo>
                <a:lnTo>
                  <a:pt x="9671262" y="0"/>
                </a:lnTo>
                <a:lnTo>
                  <a:pt x="9671262" y="17730649"/>
                </a:lnTo>
                <a:lnTo>
                  <a:pt x="0" y="177306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606787" y="4227703"/>
            <a:ext cx="7899332" cy="1766578"/>
          </a:xfrm>
          <a:custGeom>
            <a:avLst/>
            <a:gdLst/>
            <a:ahLst/>
            <a:cxnLst/>
            <a:rect r="r" b="b" t="t" l="l"/>
            <a:pathLst>
              <a:path h="1766578" w="7899332">
                <a:moveTo>
                  <a:pt x="0" y="0"/>
                </a:moveTo>
                <a:lnTo>
                  <a:pt x="7899332" y="0"/>
                </a:lnTo>
                <a:lnTo>
                  <a:pt x="7899332" y="1766578"/>
                </a:lnTo>
                <a:lnTo>
                  <a:pt x="0" y="1766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5400000">
            <a:off x="13033608" y="4227703"/>
            <a:ext cx="7899332" cy="1766578"/>
          </a:xfrm>
          <a:custGeom>
            <a:avLst/>
            <a:gdLst/>
            <a:ahLst/>
            <a:cxnLst/>
            <a:rect r="r" b="b" t="t" l="l"/>
            <a:pathLst>
              <a:path h="1766578" w="7899332">
                <a:moveTo>
                  <a:pt x="0" y="1766578"/>
                </a:moveTo>
                <a:lnTo>
                  <a:pt x="7899332" y="1766578"/>
                </a:lnTo>
                <a:lnTo>
                  <a:pt x="7899332" y="0"/>
                </a:lnTo>
                <a:lnTo>
                  <a:pt x="0" y="0"/>
                </a:lnTo>
                <a:lnTo>
                  <a:pt x="0" y="176657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7663" y="51538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12446" y="51538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77229" y="51538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242012" y="51538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706795" y="51538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1578" y="51538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847663" y="9355933"/>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4312446" y="9355933"/>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77229" y="9355933"/>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242012" y="9355933"/>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1706795" y="9355933"/>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4171578" y="9355933"/>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8" id="18"/>
          <p:cNvGrpSpPr/>
          <p:nvPr/>
        </p:nvGrpSpPr>
        <p:grpSpPr>
          <a:xfrm rot="0">
            <a:off x="5651989" y="5418802"/>
            <a:ext cx="7689896" cy="2263376"/>
            <a:chOff x="0" y="0"/>
            <a:chExt cx="2025323" cy="596116"/>
          </a:xfrm>
        </p:grpSpPr>
        <p:sp>
          <p:nvSpPr>
            <p:cNvPr name="Freeform 19" id="19"/>
            <p:cNvSpPr/>
            <p:nvPr/>
          </p:nvSpPr>
          <p:spPr>
            <a:xfrm flipH="false" flipV="false" rot="0">
              <a:off x="0" y="0"/>
              <a:ext cx="2025323" cy="596116"/>
            </a:xfrm>
            <a:custGeom>
              <a:avLst/>
              <a:gdLst/>
              <a:ahLst/>
              <a:cxnLst/>
              <a:rect r="r" b="b" t="t" l="l"/>
              <a:pathLst>
                <a:path h="596116" w="2025323">
                  <a:moveTo>
                    <a:pt x="14095" y="0"/>
                  </a:moveTo>
                  <a:lnTo>
                    <a:pt x="2011228" y="0"/>
                  </a:lnTo>
                  <a:cubicBezTo>
                    <a:pt x="2014966" y="0"/>
                    <a:pt x="2018551" y="1485"/>
                    <a:pt x="2021194" y="4128"/>
                  </a:cubicBezTo>
                  <a:cubicBezTo>
                    <a:pt x="2023838" y="6772"/>
                    <a:pt x="2025323" y="10357"/>
                    <a:pt x="2025323" y="14095"/>
                  </a:cubicBezTo>
                  <a:lnTo>
                    <a:pt x="2025323" y="582021"/>
                  </a:lnTo>
                  <a:cubicBezTo>
                    <a:pt x="2025323" y="585759"/>
                    <a:pt x="2023838" y="589344"/>
                    <a:pt x="2021194" y="591987"/>
                  </a:cubicBezTo>
                  <a:cubicBezTo>
                    <a:pt x="2018551" y="594631"/>
                    <a:pt x="2014966" y="596116"/>
                    <a:pt x="2011228" y="596116"/>
                  </a:cubicBezTo>
                  <a:lnTo>
                    <a:pt x="14095" y="596116"/>
                  </a:lnTo>
                  <a:cubicBezTo>
                    <a:pt x="10357" y="596116"/>
                    <a:pt x="6772" y="594631"/>
                    <a:pt x="4128" y="591987"/>
                  </a:cubicBezTo>
                  <a:cubicBezTo>
                    <a:pt x="1485" y="589344"/>
                    <a:pt x="0" y="585759"/>
                    <a:pt x="0" y="582021"/>
                  </a:cubicBezTo>
                  <a:lnTo>
                    <a:pt x="0" y="14095"/>
                  </a:lnTo>
                  <a:cubicBezTo>
                    <a:pt x="0" y="10357"/>
                    <a:pt x="1485" y="6772"/>
                    <a:pt x="4128" y="4128"/>
                  </a:cubicBezTo>
                  <a:cubicBezTo>
                    <a:pt x="6772" y="1485"/>
                    <a:pt x="10357" y="0"/>
                    <a:pt x="14095" y="0"/>
                  </a:cubicBezTo>
                  <a:close/>
                </a:path>
              </a:pathLst>
            </a:custGeom>
            <a:solidFill>
              <a:srgbClr val="FFFFFF"/>
            </a:solidFill>
            <a:ln w="38100" cap="sq">
              <a:solidFill>
                <a:srgbClr val="E08546"/>
              </a:solidFill>
              <a:prstDash val="solid"/>
              <a:miter/>
            </a:ln>
          </p:spPr>
        </p:sp>
        <p:sp>
          <p:nvSpPr>
            <p:cNvPr name="TextBox 20" id="20"/>
            <p:cNvSpPr txBox="true"/>
            <p:nvPr/>
          </p:nvSpPr>
          <p:spPr>
            <a:xfrm>
              <a:off x="0" y="-28575"/>
              <a:ext cx="2025323" cy="624691"/>
            </a:xfrm>
            <a:prstGeom prst="rect">
              <a:avLst/>
            </a:prstGeom>
          </p:spPr>
          <p:txBody>
            <a:bodyPr anchor="ctr" rtlCol="false" tIns="50800" lIns="50800" bIns="50800" rIns="50800"/>
            <a:lstStyle/>
            <a:p>
              <a:pPr algn="ctr">
                <a:lnSpc>
                  <a:spcPts val="2640"/>
                </a:lnSpc>
              </a:pPr>
            </a:p>
          </p:txBody>
        </p:sp>
      </p:grpSp>
      <p:sp>
        <p:nvSpPr>
          <p:cNvPr name="TextBox 21" id="21"/>
          <p:cNvSpPr txBox="true"/>
          <p:nvPr/>
        </p:nvSpPr>
        <p:spPr>
          <a:xfrm rot="0">
            <a:off x="2472808" y="2071726"/>
            <a:ext cx="13538409" cy="2587200"/>
          </a:xfrm>
          <a:prstGeom prst="rect">
            <a:avLst/>
          </a:prstGeom>
        </p:spPr>
        <p:txBody>
          <a:bodyPr anchor="t" rtlCol="false" tIns="0" lIns="0" bIns="0" rIns="0">
            <a:spAutoFit/>
          </a:bodyPr>
          <a:lstStyle/>
          <a:p>
            <a:pPr algn="ctr" marL="0" indent="0" lvl="0">
              <a:lnSpc>
                <a:spcPts val="9823"/>
              </a:lnSpc>
            </a:pPr>
            <a:r>
              <a:rPr lang="en-US" sz="11037">
                <a:solidFill>
                  <a:srgbClr val="7A6E32"/>
                </a:solidFill>
                <a:latin typeface="Anton"/>
                <a:ea typeface="Anton"/>
                <a:cs typeface="Anton"/>
                <a:sym typeface="Anton"/>
              </a:rPr>
              <a:t>LATIHAN PRAKTIKUM LARAVEL 13</a:t>
            </a:r>
          </a:p>
        </p:txBody>
      </p:sp>
      <p:sp>
        <p:nvSpPr>
          <p:cNvPr name="TextBox 22" id="22"/>
          <p:cNvSpPr txBox="true"/>
          <p:nvPr/>
        </p:nvSpPr>
        <p:spPr>
          <a:xfrm rot="0">
            <a:off x="5019862" y="5592376"/>
            <a:ext cx="8732340" cy="1867146"/>
          </a:xfrm>
          <a:prstGeom prst="rect">
            <a:avLst/>
          </a:prstGeom>
        </p:spPr>
        <p:txBody>
          <a:bodyPr anchor="t" rtlCol="false" tIns="0" lIns="0" bIns="0" rIns="0">
            <a:spAutoFit/>
          </a:bodyPr>
          <a:lstStyle/>
          <a:p>
            <a:pPr algn="ctr">
              <a:lnSpc>
                <a:spcPts val="4912"/>
              </a:lnSpc>
            </a:pPr>
            <a:r>
              <a:rPr lang="en-US" sz="4465" b="true">
                <a:solidFill>
                  <a:srgbClr val="B5AE60"/>
                </a:solidFill>
                <a:latin typeface="Anantason SemiCondensed Bold"/>
                <a:ea typeface="Anantason SemiCondensed Bold"/>
                <a:cs typeface="Anantason SemiCondensed Bold"/>
                <a:sym typeface="Anantason SemiCondensed Bold"/>
              </a:rPr>
              <a:t>Nama: Novan Arya Syahputra</a:t>
            </a:r>
          </a:p>
          <a:p>
            <a:pPr algn="ctr">
              <a:lnSpc>
                <a:spcPts val="4912"/>
              </a:lnSpc>
            </a:pPr>
            <a:r>
              <a:rPr lang="en-US" sz="4465" b="true">
                <a:solidFill>
                  <a:srgbClr val="B5AE60"/>
                </a:solidFill>
                <a:latin typeface="Anantason SemiCondensed Bold"/>
                <a:ea typeface="Anantason SemiCondensed Bold"/>
                <a:cs typeface="Anantason SemiCondensed Bold"/>
                <a:sym typeface="Anantason SemiCondensed Bold"/>
              </a:rPr>
              <a:t>Kelas: XI RPL                            </a:t>
            </a:r>
          </a:p>
          <a:p>
            <a:pPr algn="ctr" marL="0" indent="0" lvl="0">
              <a:lnSpc>
                <a:spcPts val="4912"/>
              </a:lnSpc>
            </a:pPr>
            <a:r>
              <a:rPr lang="en-US" b="true" sz="4465">
                <a:solidFill>
                  <a:srgbClr val="B5AE60"/>
                </a:solidFill>
                <a:latin typeface="Anantason SemiCondensed Bold"/>
                <a:ea typeface="Anantason SemiCondensed Bold"/>
                <a:cs typeface="Anantason SemiCondensed Bold"/>
                <a:sym typeface="Anantason SemiCondensed Bold"/>
              </a:rPr>
              <a:t>Absen: 28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2667" y="-2610256"/>
            <a:ext cx="20304161" cy="20304161"/>
          </a:xfrm>
          <a:custGeom>
            <a:avLst/>
            <a:gdLst/>
            <a:ahLst/>
            <a:cxnLst/>
            <a:rect r="r" b="b" t="t" l="l"/>
            <a:pathLst>
              <a:path h="20304161" w="20304161">
                <a:moveTo>
                  <a:pt x="0" y="0"/>
                </a:moveTo>
                <a:lnTo>
                  <a:pt x="20304161" y="0"/>
                </a:lnTo>
                <a:lnTo>
                  <a:pt x="20304161" y="20304161"/>
                </a:lnTo>
                <a:lnTo>
                  <a:pt x="0" y="20304161"/>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308369" y="-3721824"/>
            <a:ext cx="9671263" cy="17730649"/>
          </a:xfrm>
          <a:custGeom>
            <a:avLst/>
            <a:gdLst/>
            <a:ahLst/>
            <a:cxnLst/>
            <a:rect r="r" b="b" t="t" l="l"/>
            <a:pathLst>
              <a:path h="17730649" w="9671263">
                <a:moveTo>
                  <a:pt x="0" y="0"/>
                </a:moveTo>
                <a:lnTo>
                  <a:pt x="9671262" y="0"/>
                </a:lnTo>
                <a:lnTo>
                  <a:pt x="9671262" y="17730648"/>
                </a:lnTo>
                <a:lnTo>
                  <a:pt x="0" y="17730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606787" y="4260211"/>
            <a:ext cx="7899332" cy="1766578"/>
          </a:xfrm>
          <a:custGeom>
            <a:avLst/>
            <a:gdLst/>
            <a:ahLst/>
            <a:cxnLst/>
            <a:rect r="r" b="b" t="t" l="l"/>
            <a:pathLst>
              <a:path h="1766578" w="7899332">
                <a:moveTo>
                  <a:pt x="0" y="0"/>
                </a:moveTo>
                <a:lnTo>
                  <a:pt x="7899332" y="0"/>
                </a:lnTo>
                <a:lnTo>
                  <a:pt x="7899332" y="1766578"/>
                </a:lnTo>
                <a:lnTo>
                  <a:pt x="0" y="1766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5400000">
            <a:off x="13033608" y="4260211"/>
            <a:ext cx="7899332" cy="1766578"/>
          </a:xfrm>
          <a:custGeom>
            <a:avLst/>
            <a:gdLst/>
            <a:ahLst/>
            <a:cxnLst/>
            <a:rect r="r" b="b" t="t" l="l"/>
            <a:pathLst>
              <a:path h="1766578" w="7899332">
                <a:moveTo>
                  <a:pt x="0" y="1766578"/>
                </a:moveTo>
                <a:lnTo>
                  <a:pt x="7899332" y="1766578"/>
                </a:lnTo>
                <a:lnTo>
                  <a:pt x="7899332" y="0"/>
                </a:lnTo>
                <a:lnTo>
                  <a:pt x="0" y="0"/>
                </a:lnTo>
                <a:lnTo>
                  <a:pt x="0" y="176657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7663"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12446"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77229"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242012"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706795"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1578"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2" id="12"/>
          <p:cNvGrpSpPr/>
          <p:nvPr/>
        </p:nvGrpSpPr>
        <p:grpSpPr>
          <a:xfrm rot="0">
            <a:off x="1847663" y="9388441"/>
            <a:ext cx="14592674" cy="350626"/>
            <a:chOff x="0" y="0"/>
            <a:chExt cx="19456899" cy="467502"/>
          </a:xfrm>
        </p:grpSpPr>
        <p:sp>
          <p:nvSpPr>
            <p:cNvPr name="Freeform 13" id="13"/>
            <p:cNvSpPr/>
            <p:nvPr/>
          </p:nvSpPr>
          <p:spPr>
            <a:xfrm flipH="false" flipV="false" rot="0">
              <a:off x="0" y="0"/>
              <a:ext cx="3025012" cy="467502"/>
            </a:xfrm>
            <a:custGeom>
              <a:avLst/>
              <a:gdLst/>
              <a:ahLst/>
              <a:cxnLst/>
              <a:rect r="r" b="b" t="t" l="l"/>
              <a:pathLst>
                <a:path h="467502" w="3025012">
                  <a:moveTo>
                    <a:pt x="0" y="0"/>
                  </a:moveTo>
                  <a:lnTo>
                    <a:pt x="3025012" y="0"/>
                  </a:lnTo>
                  <a:lnTo>
                    <a:pt x="3025012" y="467502"/>
                  </a:lnTo>
                  <a:lnTo>
                    <a:pt x="0" y="4675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3286377" y="0"/>
              <a:ext cx="3025012" cy="467502"/>
            </a:xfrm>
            <a:custGeom>
              <a:avLst/>
              <a:gdLst/>
              <a:ahLst/>
              <a:cxnLst/>
              <a:rect r="r" b="b" t="t" l="l"/>
              <a:pathLst>
                <a:path h="467502" w="3025012">
                  <a:moveTo>
                    <a:pt x="0" y="0"/>
                  </a:moveTo>
                  <a:lnTo>
                    <a:pt x="3025013" y="0"/>
                  </a:lnTo>
                  <a:lnTo>
                    <a:pt x="3025013" y="467502"/>
                  </a:lnTo>
                  <a:lnTo>
                    <a:pt x="0" y="4675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6572755" y="0"/>
              <a:ext cx="3025012" cy="467502"/>
            </a:xfrm>
            <a:custGeom>
              <a:avLst/>
              <a:gdLst/>
              <a:ahLst/>
              <a:cxnLst/>
              <a:rect r="r" b="b" t="t" l="l"/>
              <a:pathLst>
                <a:path h="467502" w="3025012">
                  <a:moveTo>
                    <a:pt x="0" y="0"/>
                  </a:moveTo>
                  <a:lnTo>
                    <a:pt x="3025012" y="0"/>
                  </a:lnTo>
                  <a:lnTo>
                    <a:pt x="3025012" y="467502"/>
                  </a:lnTo>
                  <a:lnTo>
                    <a:pt x="0" y="4675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9859132" y="0"/>
              <a:ext cx="3025012" cy="467502"/>
            </a:xfrm>
            <a:custGeom>
              <a:avLst/>
              <a:gdLst/>
              <a:ahLst/>
              <a:cxnLst/>
              <a:rect r="r" b="b" t="t" l="l"/>
              <a:pathLst>
                <a:path h="467502" w="3025012">
                  <a:moveTo>
                    <a:pt x="0" y="0"/>
                  </a:moveTo>
                  <a:lnTo>
                    <a:pt x="3025012" y="0"/>
                  </a:lnTo>
                  <a:lnTo>
                    <a:pt x="3025012" y="467502"/>
                  </a:lnTo>
                  <a:lnTo>
                    <a:pt x="0" y="4675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13145510" y="0"/>
              <a:ext cx="3025012" cy="467502"/>
            </a:xfrm>
            <a:custGeom>
              <a:avLst/>
              <a:gdLst/>
              <a:ahLst/>
              <a:cxnLst/>
              <a:rect r="r" b="b" t="t" l="l"/>
              <a:pathLst>
                <a:path h="467502" w="3025012">
                  <a:moveTo>
                    <a:pt x="0" y="0"/>
                  </a:moveTo>
                  <a:lnTo>
                    <a:pt x="3025012" y="0"/>
                  </a:lnTo>
                  <a:lnTo>
                    <a:pt x="3025012" y="467502"/>
                  </a:lnTo>
                  <a:lnTo>
                    <a:pt x="0" y="4675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16431887" y="0"/>
              <a:ext cx="3025012" cy="467502"/>
            </a:xfrm>
            <a:custGeom>
              <a:avLst/>
              <a:gdLst/>
              <a:ahLst/>
              <a:cxnLst/>
              <a:rect r="r" b="b" t="t" l="l"/>
              <a:pathLst>
                <a:path h="467502" w="3025012">
                  <a:moveTo>
                    <a:pt x="0" y="0"/>
                  </a:moveTo>
                  <a:lnTo>
                    <a:pt x="3025012" y="0"/>
                  </a:lnTo>
                  <a:lnTo>
                    <a:pt x="3025012" y="467502"/>
                  </a:lnTo>
                  <a:lnTo>
                    <a:pt x="0" y="4675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19" id="19"/>
          <p:cNvGrpSpPr/>
          <p:nvPr/>
        </p:nvGrpSpPr>
        <p:grpSpPr>
          <a:xfrm rot="0">
            <a:off x="3236108" y="3082397"/>
            <a:ext cx="7905883" cy="5596665"/>
            <a:chOff x="0" y="0"/>
            <a:chExt cx="2082208" cy="1474019"/>
          </a:xfrm>
        </p:grpSpPr>
        <p:sp>
          <p:nvSpPr>
            <p:cNvPr name="Freeform 20" id="20"/>
            <p:cNvSpPr/>
            <p:nvPr/>
          </p:nvSpPr>
          <p:spPr>
            <a:xfrm flipH="false" flipV="false" rot="0">
              <a:off x="0" y="0"/>
              <a:ext cx="2082208" cy="1474019"/>
            </a:xfrm>
            <a:custGeom>
              <a:avLst/>
              <a:gdLst/>
              <a:ahLst/>
              <a:cxnLst/>
              <a:rect r="r" b="b" t="t" l="l"/>
              <a:pathLst>
                <a:path h="1474019" w="2082208">
                  <a:moveTo>
                    <a:pt x="35253" y="0"/>
                  </a:moveTo>
                  <a:lnTo>
                    <a:pt x="2046954" y="0"/>
                  </a:lnTo>
                  <a:cubicBezTo>
                    <a:pt x="2066424" y="0"/>
                    <a:pt x="2082208" y="15783"/>
                    <a:pt x="2082208" y="35253"/>
                  </a:cubicBezTo>
                  <a:lnTo>
                    <a:pt x="2082208" y="1438765"/>
                  </a:lnTo>
                  <a:cubicBezTo>
                    <a:pt x="2082208" y="1458235"/>
                    <a:pt x="2066424" y="1474019"/>
                    <a:pt x="2046954" y="1474019"/>
                  </a:cubicBezTo>
                  <a:lnTo>
                    <a:pt x="35253" y="1474019"/>
                  </a:lnTo>
                  <a:cubicBezTo>
                    <a:pt x="15783" y="1474019"/>
                    <a:pt x="0" y="1458235"/>
                    <a:pt x="0" y="1438765"/>
                  </a:cubicBezTo>
                  <a:lnTo>
                    <a:pt x="0" y="35253"/>
                  </a:lnTo>
                  <a:cubicBezTo>
                    <a:pt x="0" y="15783"/>
                    <a:pt x="15783" y="0"/>
                    <a:pt x="35253" y="0"/>
                  </a:cubicBezTo>
                  <a:close/>
                </a:path>
              </a:pathLst>
            </a:custGeom>
            <a:solidFill>
              <a:srgbClr val="FFFFFF"/>
            </a:solidFill>
            <a:ln w="38100" cap="rnd">
              <a:solidFill>
                <a:srgbClr val="E08546"/>
              </a:solidFill>
              <a:prstDash val="solid"/>
              <a:round/>
            </a:ln>
          </p:spPr>
        </p:sp>
        <p:sp>
          <p:nvSpPr>
            <p:cNvPr name="TextBox 21" id="21"/>
            <p:cNvSpPr txBox="true"/>
            <p:nvPr/>
          </p:nvSpPr>
          <p:spPr>
            <a:xfrm>
              <a:off x="0" y="-28575"/>
              <a:ext cx="2082208" cy="1502594"/>
            </a:xfrm>
            <a:prstGeom prst="rect">
              <a:avLst/>
            </a:prstGeom>
          </p:spPr>
          <p:txBody>
            <a:bodyPr anchor="ctr" rtlCol="false" tIns="50800" lIns="50800" bIns="50800" rIns="50800"/>
            <a:lstStyle/>
            <a:p>
              <a:pPr algn="ctr">
                <a:lnSpc>
                  <a:spcPts val="2640"/>
                </a:lnSpc>
              </a:pPr>
            </a:p>
          </p:txBody>
        </p:sp>
      </p:grpSp>
      <p:grpSp>
        <p:nvGrpSpPr>
          <p:cNvPr name="Group 22" id="22"/>
          <p:cNvGrpSpPr/>
          <p:nvPr/>
        </p:nvGrpSpPr>
        <p:grpSpPr>
          <a:xfrm rot="0">
            <a:off x="11358935" y="3082397"/>
            <a:ext cx="3731110" cy="5596665"/>
            <a:chOff x="0" y="0"/>
            <a:chExt cx="6350000" cy="9525000"/>
          </a:xfrm>
        </p:grpSpPr>
        <p:sp>
          <p:nvSpPr>
            <p:cNvPr name="Freeform 23" id="23"/>
            <p:cNvSpPr/>
            <p:nvPr/>
          </p:nvSpPr>
          <p:spPr>
            <a:xfrm flipH="false" flipV="false" rot="0">
              <a:off x="0" y="0"/>
              <a:ext cx="6350000" cy="9525000"/>
            </a:xfrm>
            <a:custGeom>
              <a:avLst/>
              <a:gdLst/>
              <a:ahLst/>
              <a:cxnLst/>
              <a:rect r="r" b="b" t="t" l="l"/>
              <a:pathLst>
                <a:path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12"/>
              <a:stretch>
                <a:fillRect l="-1009" t="0" r="-37339" b="0"/>
              </a:stretch>
            </a:blipFill>
            <a:ln w="38100" cap="sq">
              <a:solidFill>
                <a:srgbClr val="E08546"/>
              </a:solidFill>
              <a:prstDash val="solid"/>
              <a:miter/>
            </a:ln>
          </p:spPr>
        </p:sp>
      </p:grpSp>
      <p:sp>
        <p:nvSpPr>
          <p:cNvPr name="TextBox 24" id="24"/>
          <p:cNvSpPr txBox="true"/>
          <p:nvPr/>
        </p:nvSpPr>
        <p:spPr>
          <a:xfrm rot="0">
            <a:off x="3171373" y="1528104"/>
            <a:ext cx="11945255" cy="1219200"/>
          </a:xfrm>
          <a:prstGeom prst="rect">
            <a:avLst/>
          </a:prstGeom>
        </p:spPr>
        <p:txBody>
          <a:bodyPr anchor="t" rtlCol="false" tIns="0" lIns="0" bIns="0" rIns="0">
            <a:spAutoFit/>
          </a:bodyPr>
          <a:lstStyle/>
          <a:p>
            <a:pPr algn="ctr" marL="0" indent="0" lvl="0">
              <a:lnSpc>
                <a:spcPts val="8250"/>
              </a:lnSpc>
            </a:pPr>
            <a:r>
              <a:rPr lang="en-US" b="true" sz="7500">
                <a:solidFill>
                  <a:srgbClr val="7A6E32"/>
                </a:solidFill>
                <a:latin typeface="ITC Bauhaus Bold"/>
                <a:ea typeface="ITC Bauhaus Bold"/>
                <a:cs typeface="ITC Bauhaus Bold"/>
                <a:sym typeface="ITC Bauhaus Bold"/>
              </a:rPr>
              <a:t>PENJELASAN PROJECT</a:t>
            </a:r>
          </a:p>
        </p:txBody>
      </p:sp>
      <p:sp>
        <p:nvSpPr>
          <p:cNvPr name="TextBox 25" id="25"/>
          <p:cNvSpPr txBox="true"/>
          <p:nvPr/>
        </p:nvSpPr>
        <p:spPr>
          <a:xfrm rot="0">
            <a:off x="3576453" y="3432971"/>
            <a:ext cx="7209276" cy="4495044"/>
          </a:xfrm>
          <a:prstGeom prst="rect">
            <a:avLst/>
          </a:prstGeom>
        </p:spPr>
        <p:txBody>
          <a:bodyPr anchor="t" rtlCol="false" tIns="0" lIns="0" bIns="0" rIns="0">
            <a:spAutoFit/>
          </a:bodyPr>
          <a:lstStyle/>
          <a:p>
            <a:pPr algn="just">
              <a:lnSpc>
                <a:spcPts val="2221"/>
              </a:lnSpc>
            </a:pPr>
            <a:r>
              <a:rPr lang="en-US" sz="2019">
                <a:solidFill>
                  <a:srgbClr val="E08546"/>
                </a:solidFill>
                <a:latin typeface="Anantason SemiCondensed Light"/>
                <a:ea typeface="Anantason SemiCondensed Light"/>
                <a:cs typeface="Anantason SemiCondensed Light"/>
                <a:sym typeface="Anantason SemiCondensed Light"/>
              </a:rPr>
              <a:t>BiblioTech adalah aplikasi web manajemen perpustakaan satu halaman (Single Page Application) yang dibangun menggunakan HTML, CSS, dan JavaScript murni dengan desain yang menyerupai tampilan aplikasi Laravel berbasis Blade template. File index.html ini dirancang sebagai prototipe front-end yang bisa langsung diintegrasikan ke dalam proyek Laravel 13, di mana semua logika berjalan di sisi klien sehingga cocok dijadikan tampilan statis sebelum dihubungkan ke backend melalui API atau Blade.</a:t>
            </a:r>
          </a:p>
          <a:p>
            <a:pPr algn="just">
              <a:lnSpc>
                <a:spcPts val="2221"/>
              </a:lnSpc>
            </a:pPr>
          </a:p>
          <a:p>
            <a:pPr algn="just">
              <a:lnSpc>
                <a:spcPts val="2221"/>
              </a:lnSpc>
            </a:pPr>
            <a:r>
              <a:rPr lang="en-US" sz="2019">
                <a:solidFill>
                  <a:srgbClr val="E08546"/>
                </a:solidFill>
                <a:latin typeface="Anantason SemiCondensed Light"/>
                <a:ea typeface="Anantason SemiCondensed Light"/>
                <a:cs typeface="Anantason SemiCondensed Light"/>
                <a:sym typeface="Anantason SemiCondensed Light"/>
              </a:rPr>
              <a:t>Struktur halaman menggunakan pola sidebar + main content yang umum pada dashboard admin. Di dalam satu file terdapat blok &lt;style&gt; berisi seluruh CSS, elemen &lt;nav class="sidebar"&gt; sebagai navigasi kiri yang tetap, dan &lt;div class="main"&gt; sebagai area konten utama yang terdiri dari topbar dan lima halaman: dashboard, katalog, transaksi, pengembalian, dan riwayat. </a:t>
            </a:r>
          </a:p>
          <a:p>
            <a:pPr algn="just">
              <a:lnSpc>
                <a:spcPts val="2221"/>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5672" y="-2498579"/>
            <a:ext cx="20304161" cy="20304161"/>
          </a:xfrm>
          <a:custGeom>
            <a:avLst/>
            <a:gdLst/>
            <a:ahLst/>
            <a:cxnLst/>
            <a:rect r="r" b="b" t="t" l="l"/>
            <a:pathLst>
              <a:path h="20304161" w="20304161">
                <a:moveTo>
                  <a:pt x="0" y="0"/>
                </a:moveTo>
                <a:lnTo>
                  <a:pt x="20304161" y="0"/>
                </a:lnTo>
                <a:lnTo>
                  <a:pt x="20304161" y="20304161"/>
                </a:lnTo>
                <a:lnTo>
                  <a:pt x="0" y="20304161"/>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308369" y="-3721824"/>
            <a:ext cx="9671263" cy="17730649"/>
          </a:xfrm>
          <a:custGeom>
            <a:avLst/>
            <a:gdLst/>
            <a:ahLst/>
            <a:cxnLst/>
            <a:rect r="r" b="b" t="t" l="l"/>
            <a:pathLst>
              <a:path h="17730649" w="9671263">
                <a:moveTo>
                  <a:pt x="0" y="0"/>
                </a:moveTo>
                <a:lnTo>
                  <a:pt x="9671262" y="0"/>
                </a:lnTo>
                <a:lnTo>
                  <a:pt x="9671262" y="17730648"/>
                </a:lnTo>
                <a:lnTo>
                  <a:pt x="0" y="17730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606787" y="4260211"/>
            <a:ext cx="7899332" cy="1766578"/>
          </a:xfrm>
          <a:custGeom>
            <a:avLst/>
            <a:gdLst/>
            <a:ahLst/>
            <a:cxnLst/>
            <a:rect r="r" b="b" t="t" l="l"/>
            <a:pathLst>
              <a:path h="1766578" w="7899332">
                <a:moveTo>
                  <a:pt x="0" y="0"/>
                </a:moveTo>
                <a:lnTo>
                  <a:pt x="7899332" y="0"/>
                </a:lnTo>
                <a:lnTo>
                  <a:pt x="7899332" y="1766578"/>
                </a:lnTo>
                <a:lnTo>
                  <a:pt x="0" y="1766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5400000">
            <a:off x="13033608" y="4260211"/>
            <a:ext cx="7899332" cy="1766578"/>
          </a:xfrm>
          <a:custGeom>
            <a:avLst/>
            <a:gdLst/>
            <a:ahLst/>
            <a:cxnLst/>
            <a:rect r="r" b="b" t="t" l="l"/>
            <a:pathLst>
              <a:path h="1766578" w="7899332">
                <a:moveTo>
                  <a:pt x="0" y="1766578"/>
                </a:moveTo>
                <a:lnTo>
                  <a:pt x="7899332" y="1766578"/>
                </a:lnTo>
                <a:lnTo>
                  <a:pt x="7899332" y="0"/>
                </a:lnTo>
                <a:lnTo>
                  <a:pt x="0" y="0"/>
                </a:lnTo>
                <a:lnTo>
                  <a:pt x="0" y="176657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7663"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12446"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77229"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242012"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706795"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1578"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847663"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4312446"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77229"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242012"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1706795"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4171578"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3406076" y="1753161"/>
            <a:ext cx="11671872" cy="837211"/>
          </a:xfrm>
          <a:prstGeom prst="rect">
            <a:avLst/>
          </a:prstGeom>
        </p:spPr>
        <p:txBody>
          <a:bodyPr anchor="t" rtlCol="false" tIns="0" lIns="0" bIns="0" rIns="0">
            <a:spAutoFit/>
          </a:bodyPr>
          <a:lstStyle/>
          <a:p>
            <a:pPr algn="ctr" marL="0" indent="0" lvl="0">
              <a:lnSpc>
                <a:spcPts val="6514"/>
              </a:lnSpc>
            </a:pPr>
            <a:r>
              <a:rPr lang="en-US" sz="5922">
                <a:solidFill>
                  <a:srgbClr val="7A6E32"/>
                </a:solidFill>
                <a:latin typeface="Anton"/>
                <a:ea typeface="Anton"/>
                <a:cs typeface="Anton"/>
                <a:sym typeface="Anton"/>
              </a:rPr>
              <a:t>FITUR UTAMA LARAVEL 13</a:t>
            </a:r>
          </a:p>
        </p:txBody>
      </p:sp>
      <p:grpSp>
        <p:nvGrpSpPr>
          <p:cNvPr name="Group 19" id="19"/>
          <p:cNvGrpSpPr/>
          <p:nvPr/>
        </p:nvGrpSpPr>
        <p:grpSpPr>
          <a:xfrm rot="0">
            <a:off x="2702117" y="2999947"/>
            <a:ext cx="6444788" cy="1807202"/>
            <a:chOff x="0" y="0"/>
            <a:chExt cx="1697393" cy="475971"/>
          </a:xfrm>
        </p:grpSpPr>
        <p:sp>
          <p:nvSpPr>
            <p:cNvPr name="Freeform 20" id="20"/>
            <p:cNvSpPr/>
            <p:nvPr/>
          </p:nvSpPr>
          <p:spPr>
            <a:xfrm flipH="false" flipV="false" rot="0">
              <a:off x="0" y="0"/>
              <a:ext cx="1697393" cy="475971"/>
            </a:xfrm>
            <a:custGeom>
              <a:avLst/>
              <a:gdLst/>
              <a:ahLst/>
              <a:cxnLst/>
              <a:rect r="r" b="b" t="t" l="l"/>
              <a:pathLst>
                <a:path h="475971" w="1697393">
                  <a:moveTo>
                    <a:pt x="43246" y="0"/>
                  </a:moveTo>
                  <a:lnTo>
                    <a:pt x="1654147" y="0"/>
                  </a:lnTo>
                  <a:cubicBezTo>
                    <a:pt x="1665617" y="0"/>
                    <a:pt x="1676616" y="4556"/>
                    <a:pt x="1684726" y="12666"/>
                  </a:cubicBezTo>
                  <a:cubicBezTo>
                    <a:pt x="1692836" y="20776"/>
                    <a:pt x="1697393" y="31776"/>
                    <a:pt x="1697393" y="43246"/>
                  </a:cubicBezTo>
                  <a:lnTo>
                    <a:pt x="1697393" y="432725"/>
                  </a:lnTo>
                  <a:cubicBezTo>
                    <a:pt x="1697393" y="456609"/>
                    <a:pt x="1678031" y="475971"/>
                    <a:pt x="1654147" y="475971"/>
                  </a:cubicBezTo>
                  <a:lnTo>
                    <a:pt x="43246" y="475971"/>
                  </a:lnTo>
                  <a:cubicBezTo>
                    <a:pt x="31776" y="475971"/>
                    <a:pt x="20776" y="471415"/>
                    <a:pt x="12666" y="463305"/>
                  </a:cubicBezTo>
                  <a:cubicBezTo>
                    <a:pt x="4556" y="455194"/>
                    <a:pt x="0" y="444195"/>
                    <a:pt x="0" y="432725"/>
                  </a:cubicBezTo>
                  <a:lnTo>
                    <a:pt x="0" y="43246"/>
                  </a:lnTo>
                  <a:cubicBezTo>
                    <a:pt x="0" y="31776"/>
                    <a:pt x="4556" y="20776"/>
                    <a:pt x="12666" y="12666"/>
                  </a:cubicBezTo>
                  <a:cubicBezTo>
                    <a:pt x="20776" y="4556"/>
                    <a:pt x="31776" y="0"/>
                    <a:pt x="43246" y="0"/>
                  </a:cubicBezTo>
                  <a:close/>
                </a:path>
              </a:pathLst>
            </a:custGeom>
            <a:solidFill>
              <a:srgbClr val="FFFFFF"/>
            </a:solidFill>
            <a:ln w="38100" cap="rnd">
              <a:solidFill>
                <a:srgbClr val="E08546"/>
              </a:solidFill>
              <a:prstDash val="solid"/>
              <a:round/>
            </a:ln>
          </p:spPr>
        </p:sp>
        <p:sp>
          <p:nvSpPr>
            <p:cNvPr name="TextBox 21" id="21"/>
            <p:cNvSpPr txBox="true"/>
            <p:nvPr/>
          </p:nvSpPr>
          <p:spPr>
            <a:xfrm>
              <a:off x="0" y="-28575"/>
              <a:ext cx="1697393" cy="504546"/>
            </a:xfrm>
            <a:prstGeom prst="rect">
              <a:avLst/>
            </a:prstGeom>
          </p:spPr>
          <p:txBody>
            <a:bodyPr anchor="ctr" rtlCol="false" tIns="50800" lIns="50800" bIns="50800" rIns="50800"/>
            <a:lstStyle/>
            <a:p>
              <a:pPr algn="ctr">
                <a:lnSpc>
                  <a:spcPts val="2640"/>
                </a:lnSpc>
              </a:pPr>
            </a:p>
          </p:txBody>
        </p:sp>
      </p:grpSp>
      <p:sp>
        <p:nvSpPr>
          <p:cNvPr name="TextBox 22" id="22"/>
          <p:cNvSpPr txBox="true"/>
          <p:nvPr/>
        </p:nvSpPr>
        <p:spPr>
          <a:xfrm rot="0">
            <a:off x="3320060" y="3224886"/>
            <a:ext cx="5539528" cy="1344930"/>
          </a:xfrm>
          <a:prstGeom prst="rect">
            <a:avLst/>
          </a:prstGeom>
        </p:spPr>
        <p:txBody>
          <a:bodyPr anchor="t" rtlCol="false" tIns="0" lIns="0" bIns="0" rIns="0">
            <a:spAutoFit/>
          </a:bodyPr>
          <a:lstStyle/>
          <a:p>
            <a:pPr algn="just">
              <a:lnSpc>
                <a:spcPts val="2640"/>
              </a:lnSpc>
            </a:pPr>
            <a:r>
              <a:rPr lang="en-US" sz="2400">
                <a:solidFill>
                  <a:srgbClr val="E08546"/>
                </a:solidFill>
                <a:latin typeface="Anantason SemiCondensed"/>
                <a:ea typeface="Anantason SemiCondensed"/>
                <a:cs typeface="Anantason SemiCondensed"/>
                <a:sym typeface="Anantason SemiCondensed"/>
              </a:rPr>
              <a:t>CRUD Buku</a:t>
            </a:r>
          </a:p>
          <a:p>
            <a:pPr algn="just">
              <a:lnSpc>
                <a:spcPts val="2640"/>
              </a:lnSpc>
            </a:pPr>
            <a:r>
              <a:rPr lang="en-US" sz="2400">
                <a:solidFill>
                  <a:srgbClr val="E08546"/>
                </a:solidFill>
                <a:latin typeface="Anantason SemiCondensed"/>
                <a:ea typeface="Anantason SemiCondensed"/>
                <a:cs typeface="Anantason SemiCondensed"/>
                <a:sym typeface="Anantason SemiCondensed"/>
              </a:rPr>
              <a:t>Manajemen data buku lengkap (Judul, ISBN, Penulis) dengan pencarian intuitif.</a:t>
            </a:r>
          </a:p>
          <a:p>
            <a:pPr algn="just">
              <a:lnSpc>
                <a:spcPts val="2640"/>
              </a:lnSpc>
            </a:pPr>
          </a:p>
        </p:txBody>
      </p:sp>
      <p:sp>
        <p:nvSpPr>
          <p:cNvPr name="TextBox 23" id="23"/>
          <p:cNvSpPr txBox="true"/>
          <p:nvPr/>
        </p:nvSpPr>
        <p:spPr>
          <a:xfrm rot="0">
            <a:off x="3004823" y="3224886"/>
            <a:ext cx="453169" cy="344805"/>
          </a:xfrm>
          <a:prstGeom prst="rect">
            <a:avLst/>
          </a:prstGeom>
        </p:spPr>
        <p:txBody>
          <a:bodyPr anchor="t" rtlCol="false" tIns="0" lIns="0" bIns="0" rIns="0">
            <a:spAutoFit/>
          </a:bodyPr>
          <a:lstStyle/>
          <a:p>
            <a:pPr algn="just">
              <a:lnSpc>
                <a:spcPts val="2640"/>
              </a:lnSpc>
            </a:pPr>
            <a:r>
              <a:rPr lang="en-US" sz="2400" b="true">
                <a:solidFill>
                  <a:srgbClr val="E08546"/>
                </a:solidFill>
                <a:latin typeface="Anantason SemiCondensed Bold"/>
                <a:ea typeface="Anantason SemiCondensed Bold"/>
                <a:cs typeface="Anantason SemiCondensed Bold"/>
                <a:sym typeface="Anantason SemiCondensed Bold"/>
              </a:rPr>
              <a:t>1. </a:t>
            </a:r>
          </a:p>
        </p:txBody>
      </p:sp>
      <p:grpSp>
        <p:nvGrpSpPr>
          <p:cNvPr name="Group 24" id="24"/>
          <p:cNvGrpSpPr/>
          <p:nvPr/>
        </p:nvGrpSpPr>
        <p:grpSpPr>
          <a:xfrm rot="0">
            <a:off x="9337119" y="2999947"/>
            <a:ext cx="6444788" cy="2724488"/>
            <a:chOff x="0" y="0"/>
            <a:chExt cx="1697393" cy="717561"/>
          </a:xfrm>
        </p:grpSpPr>
        <p:sp>
          <p:nvSpPr>
            <p:cNvPr name="Freeform 25" id="25"/>
            <p:cNvSpPr/>
            <p:nvPr/>
          </p:nvSpPr>
          <p:spPr>
            <a:xfrm flipH="false" flipV="false" rot="0">
              <a:off x="0" y="0"/>
              <a:ext cx="1697393" cy="717561"/>
            </a:xfrm>
            <a:custGeom>
              <a:avLst/>
              <a:gdLst/>
              <a:ahLst/>
              <a:cxnLst/>
              <a:rect r="r" b="b" t="t" l="l"/>
              <a:pathLst>
                <a:path h="717561" w="1697393">
                  <a:moveTo>
                    <a:pt x="43246" y="0"/>
                  </a:moveTo>
                  <a:lnTo>
                    <a:pt x="1654147" y="0"/>
                  </a:lnTo>
                  <a:cubicBezTo>
                    <a:pt x="1665617" y="0"/>
                    <a:pt x="1676616" y="4556"/>
                    <a:pt x="1684726" y="12666"/>
                  </a:cubicBezTo>
                  <a:cubicBezTo>
                    <a:pt x="1692836" y="20776"/>
                    <a:pt x="1697393" y="31776"/>
                    <a:pt x="1697393" y="43246"/>
                  </a:cubicBezTo>
                  <a:lnTo>
                    <a:pt x="1697393" y="674315"/>
                  </a:lnTo>
                  <a:cubicBezTo>
                    <a:pt x="1697393" y="698199"/>
                    <a:pt x="1678031" y="717561"/>
                    <a:pt x="1654147" y="717561"/>
                  </a:cubicBezTo>
                  <a:lnTo>
                    <a:pt x="43246" y="717561"/>
                  </a:lnTo>
                  <a:cubicBezTo>
                    <a:pt x="31776" y="717561"/>
                    <a:pt x="20776" y="713004"/>
                    <a:pt x="12666" y="704894"/>
                  </a:cubicBezTo>
                  <a:cubicBezTo>
                    <a:pt x="4556" y="696784"/>
                    <a:pt x="0" y="685784"/>
                    <a:pt x="0" y="674315"/>
                  </a:cubicBezTo>
                  <a:lnTo>
                    <a:pt x="0" y="43246"/>
                  </a:lnTo>
                  <a:cubicBezTo>
                    <a:pt x="0" y="31776"/>
                    <a:pt x="4556" y="20776"/>
                    <a:pt x="12666" y="12666"/>
                  </a:cubicBezTo>
                  <a:cubicBezTo>
                    <a:pt x="20776" y="4556"/>
                    <a:pt x="31776" y="0"/>
                    <a:pt x="43246" y="0"/>
                  </a:cubicBezTo>
                  <a:close/>
                </a:path>
              </a:pathLst>
            </a:custGeom>
            <a:solidFill>
              <a:srgbClr val="FFFFFF"/>
            </a:solidFill>
            <a:ln w="38100" cap="rnd">
              <a:solidFill>
                <a:srgbClr val="E08546"/>
              </a:solidFill>
              <a:prstDash val="solid"/>
              <a:round/>
            </a:ln>
          </p:spPr>
        </p:sp>
        <p:sp>
          <p:nvSpPr>
            <p:cNvPr name="TextBox 26" id="26"/>
            <p:cNvSpPr txBox="true"/>
            <p:nvPr/>
          </p:nvSpPr>
          <p:spPr>
            <a:xfrm>
              <a:off x="0" y="-28575"/>
              <a:ext cx="1697393" cy="746136"/>
            </a:xfrm>
            <a:prstGeom prst="rect">
              <a:avLst/>
            </a:prstGeom>
          </p:spPr>
          <p:txBody>
            <a:bodyPr anchor="ctr" rtlCol="false" tIns="50800" lIns="50800" bIns="50800" rIns="50800"/>
            <a:lstStyle/>
            <a:p>
              <a:pPr algn="ctr">
                <a:lnSpc>
                  <a:spcPts val="2640"/>
                </a:lnSpc>
              </a:pPr>
            </a:p>
          </p:txBody>
        </p:sp>
      </p:grpSp>
      <p:sp>
        <p:nvSpPr>
          <p:cNvPr name="TextBox 27" id="27"/>
          <p:cNvSpPr txBox="true"/>
          <p:nvPr/>
        </p:nvSpPr>
        <p:spPr>
          <a:xfrm rot="0">
            <a:off x="9955062" y="3224886"/>
            <a:ext cx="5539528" cy="1678305"/>
          </a:xfrm>
          <a:prstGeom prst="rect">
            <a:avLst/>
          </a:prstGeom>
        </p:spPr>
        <p:txBody>
          <a:bodyPr anchor="t" rtlCol="false" tIns="0" lIns="0" bIns="0" rIns="0">
            <a:spAutoFit/>
          </a:bodyPr>
          <a:lstStyle/>
          <a:p>
            <a:pPr algn="just">
              <a:lnSpc>
                <a:spcPts val="2640"/>
              </a:lnSpc>
            </a:pPr>
            <a:r>
              <a:rPr lang="en-US" sz="2400">
                <a:solidFill>
                  <a:srgbClr val="E08546"/>
                </a:solidFill>
                <a:latin typeface="Anantason SemiCondensed"/>
                <a:ea typeface="Anantason SemiCondensed"/>
                <a:cs typeface="Anantason SemiCondensed"/>
                <a:sym typeface="Anantason SemiCondensed"/>
              </a:rPr>
              <a:t>JSON API</a:t>
            </a:r>
          </a:p>
          <a:p>
            <a:pPr algn="just">
              <a:lnSpc>
                <a:spcPts val="2640"/>
              </a:lnSpc>
            </a:pPr>
            <a:r>
              <a:rPr lang="en-US" sz="2400">
                <a:solidFill>
                  <a:srgbClr val="E08546"/>
                </a:solidFill>
                <a:latin typeface="Anantason SemiCondensed"/>
                <a:ea typeface="Anantason SemiCondensed"/>
                <a:cs typeface="Anantason SemiCondensed"/>
                <a:sym typeface="Anantason SemiCondensed"/>
              </a:rPr>
              <a:t>Data JSON ini nantinya bisa dikonsumsi atau dipakai sama aplikasi lain, misalnya aplikasi Android/iOS atau front-end kekinian kayak Vue/React.</a:t>
            </a:r>
          </a:p>
        </p:txBody>
      </p:sp>
      <p:sp>
        <p:nvSpPr>
          <p:cNvPr name="TextBox 28" id="28"/>
          <p:cNvSpPr txBox="true"/>
          <p:nvPr/>
        </p:nvSpPr>
        <p:spPr>
          <a:xfrm rot="0">
            <a:off x="9639825" y="3224886"/>
            <a:ext cx="453169" cy="344805"/>
          </a:xfrm>
          <a:prstGeom prst="rect">
            <a:avLst/>
          </a:prstGeom>
        </p:spPr>
        <p:txBody>
          <a:bodyPr anchor="t" rtlCol="false" tIns="0" lIns="0" bIns="0" rIns="0">
            <a:spAutoFit/>
          </a:bodyPr>
          <a:lstStyle/>
          <a:p>
            <a:pPr algn="just">
              <a:lnSpc>
                <a:spcPts val="2640"/>
              </a:lnSpc>
            </a:pPr>
            <a:r>
              <a:rPr lang="en-US" sz="2400" b="true">
                <a:solidFill>
                  <a:srgbClr val="E08546"/>
                </a:solidFill>
                <a:latin typeface="Anantason SemiCondensed Bold"/>
                <a:ea typeface="Anantason SemiCondensed Bold"/>
                <a:cs typeface="Anantason SemiCondensed Bold"/>
                <a:sym typeface="Anantason SemiCondensed Bold"/>
              </a:rPr>
              <a:t>2.</a:t>
            </a:r>
          </a:p>
        </p:txBody>
      </p:sp>
      <p:grpSp>
        <p:nvGrpSpPr>
          <p:cNvPr name="Group 29" id="29"/>
          <p:cNvGrpSpPr/>
          <p:nvPr/>
        </p:nvGrpSpPr>
        <p:grpSpPr>
          <a:xfrm rot="0">
            <a:off x="2710603" y="5217475"/>
            <a:ext cx="6444788" cy="2724488"/>
            <a:chOff x="0" y="0"/>
            <a:chExt cx="1697393" cy="717561"/>
          </a:xfrm>
        </p:grpSpPr>
        <p:sp>
          <p:nvSpPr>
            <p:cNvPr name="Freeform 30" id="30"/>
            <p:cNvSpPr/>
            <p:nvPr/>
          </p:nvSpPr>
          <p:spPr>
            <a:xfrm flipH="false" flipV="false" rot="0">
              <a:off x="0" y="0"/>
              <a:ext cx="1697393" cy="717561"/>
            </a:xfrm>
            <a:custGeom>
              <a:avLst/>
              <a:gdLst/>
              <a:ahLst/>
              <a:cxnLst/>
              <a:rect r="r" b="b" t="t" l="l"/>
              <a:pathLst>
                <a:path h="717561" w="1697393">
                  <a:moveTo>
                    <a:pt x="43246" y="0"/>
                  </a:moveTo>
                  <a:lnTo>
                    <a:pt x="1654147" y="0"/>
                  </a:lnTo>
                  <a:cubicBezTo>
                    <a:pt x="1665617" y="0"/>
                    <a:pt x="1676616" y="4556"/>
                    <a:pt x="1684726" y="12666"/>
                  </a:cubicBezTo>
                  <a:cubicBezTo>
                    <a:pt x="1692836" y="20776"/>
                    <a:pt x="1697393" y="31776"/>
                    <a:pt x="1697393" y="43246"/>
                  </a:cubicBezTo>
                  <a:lnTo>
                    <a:pt x="1697393" y="674315"/>
                  </a:lnTo>
                  <a:cubicBezTo>
                    <a:pt x="1697393" y="698199"/>
                    <a:pt x="1678031" y="717561"/>
                    <a:pt x="1654147" y="717561"/>
                  </a:cubicBezTo>
                  <a:lnTo>
                    <a:pt x="43246" y="717561"/>
                  </a:lnTo>
                  <a:cubicBezTo>
                    <a:pt x="31776" y="717561"/>
                    <a:pt x="20776" y="713004"/>
                    <a:pt x="12666" y="704894"/>
                  </a:cubicBezTo>
                  <a:cubicBezTo>
                    <a:pt x="4556" y="696784"/>
                    <a:pt x="0" y="685784"/>
                    <a:pt x="0" y="674315"/>
                  </a:cubicBezTo>
                  <a:lnTo>
                    <a:pt x="0" y="43246"/>
                  </a:lnTo>
                  <a:cubicBezTo>
                    <a:pt x="0" y="31776"/>
                    <a:pt x="4556" y="20776"/>
                    <a:pt x="12666" y="12666"/>
                  </a:cubicBezTo>
                  <a:cubicBezTo>
                    <a:pt x="20776" y="4556"/>
                    <a:pt x="31776" y="0"/>
                    <a:pt x="43246" y="0"/>
                  </a:cubicBezTo>
                  <a:close/>
                </a:path>
              </a:pathLst>
            </a:custGeom>
            <a:solidFill>
              <a:srgbClr val="FFFFFF"/>
            </a:solidFill>
            <a:ln w="38100" cap="rnd">
              <a:solidFill>
                <a:srgbClr val="E08546"/>
              </a:solidFill>
              <a:prstDash val="solid"/>
              <a:round/>
            </a:ln>
          </p:spPr>
        </p:sp>
        <p:sp>
          <p:nvSpPr>
            <p:cNvPr name="TextBox 31" id="31"/>
            <p:cNvSpPr txBox="true"/>
            <p:nvPr/>
          </p:nvSpPr>
          <p:spPr>
            <a:xfrm>
              <a:off x="0" y="-28575"/>
              <a:ext cx="1697393" cy="746136"/>
            </a:xfrm>
            <a:prstGeom prst="rect">
              <a:avLst/>
            </a:prstGeom>
          </p:spPr>
          <p:txBody>
            <a:bodyPr anchor="ctr" rtlCol="false" tIns="50800" lIns="50800" bIns="50800" rIns="50800"/>
            <a:lstStyle/>
            <a:p>
              <a:pPr algn="ctr">
                <a:lnSpc>
                  <a:spcPts val="2640"/>
                </a:lnSpc>
              </a:pPr>
            </a:p>
          </p:txBody>
        </p:sp>
      </p:grpSp>
      <p:sp>
        <p:nvSpPr>
          <p:cNvPr name="TextBox 32" id="32"/>
          <p:cNvSpPr txBox="true"/>
          <p:nvPr/>
        </p:nvSpPr>
        <p:spPr>
          <a:xfrm rot="0">
            <a:off x="3320060" y="5370226"/>
            <a:ext cx="5539528" cy="2011680"/>
          </a:xfrm>
          <a:prstGeom prst="rect">
            <a:avLst/>
          </a:prstGeom>
        </p:spPr>
        <p:txBody>
          <a:bodyPr anchor="t" rtlCol="false" tIns="0" lIns="0" bIns="0" rIns="0">
            <a:spAutoFit/>
          </a:bodyPr>
          <a:lstStyle/>
          <a:p>
            <a:pPr algn="just">
              <a:lnSpc>
                <a:spcPts val="2640"/>
              </a:lnSpc>
            </a:pPr>
            <a:r>
              <a:rPr lang="en-US" sz="2400">
                <a:solidFill>
                  <a:srgbClr val="E08546"/>
                </a:solidFill>
                <a:latin typeface="Anantason SemiCondensed"/>
                <a:ea typeface="Anantason SemiCondensed"/>
                <a:cs typeface="Anantason SemiCondensed"/>
                <a:sym typeface="Anantason SemiCondensed"/>
              </a:rPr>
              <a:t>Authentication</a:t>
            </a:r>
          </a:p>
          <a:p>
            <a:pPr algn="just">
              <a:lnSpc>
                <a:spcPts val="2640"/>
              </a:lnSpc>
            </a:pPr>
            <a:r>
              <a:rPr lang="en-US" sz="2400">
                <a:solidFill>
                  <a:srgbClr val="E08546"/>
                </a:solidFill>
                <a:latin typeface="Anantason SemiCondensed"/>
                <a:ea typeface="Anantason SemiCondensed"/>
                <a:cs typeface="Anantason SemiCondensed"/>
                <a:sym typeface="Anantason SemiCondensed"/>
              </a:rPr>
              <a:t>Fungsinya buat mastiin siapa yang akses API kamu. Jadi, gak sembarang orang bisa ngacak-ngacak data buku. Cuma user yang punya akun (dan punya token khusus) yang bisa dapet akses.</a:t>
            </a:r>
          </a:p>
        </p:txBody>
      </p:sp>
      <p:sp>
        <p:nvSpPr>
          <p:cNvPr name="TextBox 33" id="33"/>
          <p:cNvSpPr txBox="true"/>
          <p:nvPr/>
        </p:nvSpPr>
        <p:spPr>
          <a:xfrm rot="0">
            <a:off x="3004823" y="5370226"/>
            <a:ext cx="453169" cy="344805"/>
          </a:xfrm>
          <a:prstGeom prst="rect">
            <a:avLst/>
          </a:prstGeom>
        </p:spPr>
        <p:txBody>
          <a:bodyPr anchor="t" rtlCol="false" tIns="0" lIns="0" bIns="0" rIns="0">
            <a:spAutoFit/>
          </a:bodyPr>
          <a:lstStyle/>
          <a:p>
            <a:pPr algn="just">
              <a:lnSpc>
                <a:spcPts val="2640"/>
              </a:lnSpc>
            </a:pPr>
            <a:r>
              <a:rPr lang="en-US" sz="2400" b="true">
                <a:solidFill>
                  <a:srgbClr val="E08546"/>
                </a:solidFill>
                <a:latin typeface="Anantason SemiCondensed Bold"/>
                <a:ea typeface="Anantason SemiCondensed Bold"/>
                <a:cs typeface="Anantason SemiCondensed Bold"/>
                <a:sym typeface="Anantason SemiCondensed Bold"/>
              </a:rPr>
              <a:t>3.</a:t>
            </a:r>
          </a:p>
        </p:txBody>
      </p:sp>
      <p:grpSp>
        <p:nvGrpSpPr>
          <p:cNvPr name="Group 34" id="34"/>
          <p:cNvGrpSpPr/>
          <p:nvPr/>
        </p:nvGrpSpPr>
        <p:grpSpPr>
          <a:xfrm rot="0">
            <a:off x="9337119" y="5978725"/>
            <a:ext cx="6444788" cy="1963238"/>
            <a:chOff x="0" y="0"/>
            <a:chExt cx="1697393" cy="517067"/>
          </a:xfrm>
        </p:grpSpPr>
        <p:sp>
          <p:nvSpPr>
            <p:cNvPr name="Freeform 35" id="35"/>
            <p:cNvSpPr/>
            <p:nvPr/>
          </p:nvSpPr>
          <p:spPr>
            <a:xfrm flipH="false" flipV="false" rot="0">
              <a:off x="0" y="0"/>
              <a:ext cx="1697393" cy="517067"/>
            </a:xfrm>
            <a:custGeom>
              <a:avLst/>
              <a:gdLst/>
              <a:ahLst/>
              <a:cxnLst/>
              <a:rect r="r" b="b" t="t" l="l"/>
              <a:pathLst>
                <a:path h="517067" w="1697393">
                  <a:moveTo>
                    <a:pt x="43246" y="0"/>
                  </a:moveTo>
                  <a:lnTo>
                    <a:pt x="1654147" y="0"/>
                  </a:lnTo>
                  <a:cubicBezTo>
                    <a:pt x="1665617" y="0"/>
                    <a:pt x="1676616" y="4556"/>
                    <a:pt x="1684726" y="12666"/>
                  </a:cubicBezTo>
                  <a:cubicBezTo>
                    <a:pt x="1692836" y="20776"/>
                    <a:pt x="1697393" y="31776"/>
                    <a:pt x="1697393" y="43246"/>
                  </a:cubicBezTo>
                  <a:lnTo>
                    <a:pt x="1697393" y="473821"/>
                  </a:lnTo>
                  <a:cubicBezTo>
                    <a:pt x="1697393" y="485291"/>
                    <a:pt x="1692836" y="496290"/>
                    <a:pt x="1684726" y="504400"/>
                  </a:cubicBezTo>
                  <a:cubicBezTo>
                    <a:pt x="1676616" y="512511"/>
                    <a:pt x="1665617" y="517067"/>
                    <a:pt x="1654147" y="517067"/>
                  </a:cubicBezTo>
                  <a:lnTo>
                    <a:pt x="43246" y="517067"/>
                  </a:lnTo>
                  <a:cubicBezTo>
                    <a:pt x="19362" y="517067"/>
                    <a:pt x="0" y="497705"/>
                    <a:pt x="0" y="473821"/>
                  </a:cubicBezTo>
                  <a:lnTo>
                    <a:pt x="0" y="43246"/>
                  </a:lnTo>
                  <a:cubicBezTo>
                    <a:pt x="0" y="31776"/>
                    <a:pt x="4556" y="20776"/>
                    <a:pt x="12666" y="12666"/>
                  </a:cubicBezTo>
                  <a:cubicBezTo>
                    <a:pt x="20776" y="4556"/>
                    <a:pt x="31776" y="0"/>
                    <a:pt x="43246" y="0"/>
                  </a:cubicBezTo>
                  <a:close/>
                </a:path>
              </a:pathLst>
            </a:custGeom>
            <a:solidFill>
              <a:srgbClr val="FFFFFF"/>
            </a:solidFill>
            <a:ln w="38100" cap="rnd">
              <a:solidFill>
                <a:srgbClr val="E08546"/>
              </a:solidFill>
              <a:prstDash val="solid"/>
              <a:round/>
            </a:ln>
          </p:spPr>
        </p:sp>
        <p:sp>
          <p:nvSpPr>
            <p:cNvPr name="TextBox 36" id="36"/>
            <p:cNvSpPr txBox="true"/>
            <p:nvPr/>
          </p:nvSpPr>
          <p:spPr>
            <a:xfrm>
              <a:off x="0" y="-28575"/>
              <a:ext cx="1697393" cy="545642"/>
            </a:xfrm>
            <a:prstGeom prst="rect">
              <a:avLst/>
            </a:prstGeom>
          </p:spPr>
          <p:txBody>
            <a:bodyPr anchor="ctr" rtlCol="false" tIns="50800" lIns="50800" bIns="50800" rIns="50800"/>
            <a:lstStyle/>
            <a:p>
              <a:pPr algn="ctr">
                <a:lnSpc>
                  <a:spcPts val="2640"/>
                </a:lnSpc>
              </a:pPr>
            </a:p>
          </p:txBody>
        </p:sp>
      </p:grpSp>
      <p:sp>
        <p:nvSpPr>
          <p:cNvPr name="TextBox 37" id="37"/>
          <p:cNvSpPr txBox="true"/>
          <p:nvPr/>
        </p:nvSpPr>
        <p:spPr>
          <a:xfrm rot="0">
            <a:off x="9955062" y="6203663"/>
            <a:ext cx="5539528" cy="1344930"/>
          </a:xfrm>
          <a:prstGeom prst="rect">
            <a:avLst/>
          </a:prstGeom>
        </p:spPr>
        <p:txBody>
          <a:bodyPr anchor="t" rtlCol="false" tIns="0" lIns="0" bIns="0" rIns="0">
            <a:spAutoFit/>
          </a:bodyPr>
          <a:lstStyle/>
          <a:p>
            <a:pPr algn="just">
              <a:lnSpc>
                <a:spcPts val="2640"/>
              </a:lnSpc>
            </a:pPr>
            <a:r>
              <a:rPr lang="en-US" sz="2400">
                <a:solidFill>
                  <a:srgbClr val="E08546"/>
                </a:solidFill>
                <a:latin typeface="Anantason SemiCondensed"/>
                <a:ea typeface="Anantason SemiCondensed"/>
                <a:cs typeface="Anantason SemiCondensed"/>
                <a:sym typeface="Anantason SemiCondensed"/>
              </a:rPr>
              <a:t>Queue System</a:t>
            </a:r>
          </a:p>
          <a:p>
            <a:pPr algn="just">
              <a:lnSpc>
                <a:spcPts val="2640"/>
              </a:lnSpc>
            </a:pPr>
            <a:r>
              <a:rPr lang="en-US" sz="2400">
                <a:solidFill>
                  <a:srgbClr val="E08546"/>
                </a:solidFill>
                <a:latin typeface="Anantason SemiCondensed"/>
                <a:ea typeface="Anantason SemiCondensed"/>
                <a:cs typeface="Anantason SemiCondensed"/>
                <a:sym typeface="Anantason SemiCondensed"/>
              </a:rPr>
              <a:t>Proses generate laporan dan notifikasi di latar belakang menggunakan Queue</a:t>
            </a:r>
          </a:p>
          <a:p>
            <a:pPr algn="just">
              <a:lnSpc>
                <a:spcPts val="2640"/>
              </a:lnSpc>
            </a:pPr>
          </a:p>
        </p:txBody>
      </p:sp>
      <p:sp>
        <p:nvSpPr>
          <p:cNvPr name="TextBox 38" id="38"/>
          <p:cNvSpPr txBox="true"/>
          <p:nvPr/>
        </p:nvSpPr>
        <p:spPr>
          <a:xfrm rot="0">
            <a:off x="9639825" y="6203663"/>
            <a:ext cx="453169" cy="344805"/>
          </a:xfrm>
          <a:prstGeom prst="rect">
            <a:avLst/>
          </a:prstGeom>
        </p:spPr>
        <p:txBody>
          <a:bodyPr anchor="t" rtlCol="false" tIns="0" lIns="0" bIns="0" rIns="0">
            <a:spAutoFit/>
          </a:bodyPr>
          <a:lstStyle/>
          <a:p>
            <a:pPr algn="just">
              <a:lnSpc>
                <a:spcPts val="2640"/>
              </a:lnSpc>
            </a:pPr>
            <a:r>
              <a:rPr lang="en-US" sz="2400" b="true">
                <a:solidFill>
                  <a:srgbClr val="E08546"/>
                </a:solidFill>
                <a:latin typeface="Anantason SemiCondensed Bold"/>
                <a:ea typeface="Anantason SemiCondensed Bold"/>
                <a:cs typeface="Anantason SemiCondensed Bold"/>
                <a:sym typeface="Anantason SemiCondensed Bold"/>
              </a:rPr>
              <a:t>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3078" y="-1915022"/>
            <a:ext cx="20304161" cy="20304161"/>
          </a:xfrm>
          <a:custGeom>
            <a:avLst/>
            <a:gdLst/>
            <a:ahLst/>
            <a:cxnLst/>
            <a:rect r="r" b="b" t="t" l="l"/>
            <a:pathLst>
              <a:path h="20304161" w="20304161">
                <a:moveTo>
                  <a:pt x="0" y="0"/>
                </a:moveTo>
                <a:lnTo>
                  <a:pt x="20304161" y="0"/>
                </a:lnTo>
                <a:lnTo>
                  <a:pt x="20304161" y="20304161"/>
                </a:lnTo>
                <a:lnTo>
                  <a:pt x="0" y="20304161"/>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308369" y="-3721824"/>
            <a:ext cx="9671263" cy="17730649"/>
          </a:xfrm>
          <a:custGeom>
            <a:avLst/>
            <a:gdLst/>
            <a:ahLst/>
            <a:cxnLst/>
            <a:rect r="r" b="b" t="t" l="l"/>
            <a:pathLst>
              <a:path h="17730649" w="9671263">
                <a:moveTo>
                  <a:pt x="0" y="0"/>
                </a:moveTo>
                <a:lnTo>
                  <a:pt x="9671262" y="0"/>
                </a:lnTo>
                <a:lnTo>
                  <a:pt x="9671262" y="17730648"/>
                </a:lnTo>
                <a:lnTo>
                  <a:pt x="0" y="17730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606787" y="4260211"/>
            <a:ext cx="7899332" cy="1766578"/>
          </a:xfrm>
          <a:custGeom>
            <a:avLst/>
            <a:gdLst/>
            <a:ahLst/>
            <a:cxnLst/>
            <a:rect r="r" b="b" t="t" l="l"/>
            <a:pathLst>
              <a:path h="1766578" w="7899332">
                <a:moveTo>
                  <a:pt x="0" y="0"/>
                </a:moveTo>
                <a:lnTo>
                  <a:pt x="7899332" y="0"/>
                </a:lnTo>
                <a:lnTo>
                  <a:pt x="7899332" y="1766578"/>
                </a:lnTo>
                <a:lnTo>
                  <a:pt x="0" y="1766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5400000">
            <a:off x="13033608" y="4260211"/>
            <a:ext cx="7899332" cy="1766578"/>
          </a:xfrm>
          <a:custGeom>
            <a:avLst/>
            <a:gdLst/>
            <a:ahLst/>
            <a:cxnLst/>
            <a:rect r="r" b="b" t="t" l="l"/>
            <a:pathLst>
              <a:path h="1766578" w="7899332">
                <a:moveTo>
                  <a:pt x="0" y="1766578"/>
                </a:moveTo>
                <a:lnTo>
                  <a:pt x="7899332" y="1766578"/>
                </a:lnTo>
                <a:lnTo>
                  <a:pt x="7899332" y="0"/>
                </a:lnTo>
                <a:lnTo>
                  <a:pt x="0" y="0"/>
                </a:lnTo>
                <a:lnTo>
                  <a:pt x="0" y="176657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7663"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12446"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77229"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242012"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706795"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1578"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847663"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4312446"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77229"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242012"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1706795"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4171578"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3349609" y="1585620"/>
            <a:ext cx="11588782" cy="868045"/>
          </a:xfrm>
          <a:prstGeom prst="rect">
            <a:avLst/>
          </a:prstGeom>
        </p:spPr>
        <p:txBody>
          <a:bodyPr anchor="t" rtlCol="false" tIns="0" lIns="0" bIns="0" rIns="0">
            <a:spAutoFit/>
          </a:bodyPr>
          <a:lstStyle/>
          <a:p>
            <a:pPr algn="ctr" marL="0" indent="0" lvl="0">
              <a:lnSpc>
                <a:spcPts val="6709"/>
              </a:lnSpc>
            </a:pPr>
            <a:r>
              <a:rPr lang="en-US" sz="6099">
                <a:solidFill>
                  <a:srgbClr val="7A6E32"/>
                </a:solidFill>
                <a:latin typeface="Anton"/>
                <a:ea typeface="Anton"/>
                <a:cs typeface="Anton"/>
                <a:sym typeface="Anton"/>
              </a:rPr>
              <a:t>FITUR LARAVEL 13 YANG DIGUNAKAN:</a:t>
            </a:r>
          </a:p>
        </p:txBody>
      </p:sp>
      <p:grpSp>
        <p:nvGrpSpPr>
          <p:cNvPr name="Group 19" id="19"/>
          <p:cNvGrpSpPr/>
          <p:nvPr/>
        </p:nvGrpSpPr>
        <p:grpSpPr>
          <a:xfrm rot="0">
            <a:off x="2824229" y="3547581"/>
            <a:ext cx="12677694" cy="4988555"/>
            <a:chOff x="0" y="0"/>
            <a:chExt cx="3338981" cy="1313858"/>
          </a:xfrm>
        </p:grpSpPr>
        <p:sp>
          <p:nvSpPr>
            <p:cNvPr name="Freeform 20" id="20"/>
            <p:cNvSpPr/>
            <p:nvPr/>
          </p:nvSpPr>
          <p:spPr>
            <a:xfrm flipH="false" flipV="false" rot="0">
              <a:off x="0" y="0"/>
              <a:ext cx="3338981" cy="1313858"/>
            </a:xfrm>
            <a:custGeom>
              <a:avLst/>
              <a:gdLst/>
              <a:ahLst/>
              <a:cxnLst/>
              <a:rect r="r" b="b" t="t" l="l"/>
              <a:pathLst>
                <a:path h="1313858" w="3338981">
                  <a:moveTo>
                    <a:pt x="21984" y="0"/>
                  </a:moveTo>
                  <a:lnTo>
                    <a:pt x="3316997" y="0"/>
                  </a:lnTo>
                  <a:cubicBezTo>
                    <a:pt x="3329138" y="0"/>
                    <a:pt x="3338981" y="9843"/>
                    <a:pt x="3338981" y="21984"/>
                  </a:cubicBezTo>
                  <a:lnTo>
                    <a:pt x="3338981" y="1291874"/>
                  </a:lnTo>
                  <a:cubicBezTo>
                    <a:pt x="3338981" y="1297705"/>
                    <a:pt x="3336665" y="1303296"/>
                    <a:pt x="3332542" y="1307419"/>
                  </a:cubicBezTo>
                  <a:cubicBezTo>
                    <a:pt x="3328419" y="1311542"/>
                    <a:pt x="3322827" y="1313858"/>
                    <a:pt x="3316997" y="1313858"/>
                  </a:cubicBezTo>
                  <a:lnTo>
                    <a:pt x="21984" y="1313858"/>
                  </a:lnTo>
                  <a:cubicBezTo>
                    <a:pt x="9843" y="1313858"/>
                    <a:pt x="0" y="1304016"/>
                    <a:pt x="0" y="1291874"/>
                  </a:cubicBezTo>
                  <a:lnTo>
                    <a:pt x="0" y="21984"/>
                  </a:lnTo>
                  <a:cubicBezTo>
                    <a:pt x="0" y="16154"/>
                    <a:pt x="2316" y="10562"/>
                    <a:pt x="6439" y="6439"/>
                  </a:cubicBezTo>
                  <a:cubicBezTo>
                    <a:pt x="10562" y="2316"/>
                    <a:pt x="16154" y="0"/>
                    <a:pt x="21984" y="0"/>
                  </a:cubicBezTo>
                  <a:close/>
                </a:path>
              </a:pathLst>
            </a:custGeom>
            <a:solidFill>
              <a:srgbClr val="FFFFFF"/>
            </a:solidFill>
            <a:ln w="38100" cap="rnd">
              <a:solidFill>
                <a:srgbClr val="E08546"/>
              </a:solidFill>
              <a:prstDash val="solid"/>
              <a:round/>
            </a:ln>
          </p:spPr>
        </p:sp>
        <p:sp>
          <p:nvSpPr>
            <p:cNvPr name="TextBox 21" id="21"/>
            <p:cNvSpPr txBox="true"/>
            <p:nvPr/>
          </p:nvSpPr>
          <p:spPr>
            <a:xfrm>
              <a:off x="0" y="-28575"/>
              <a:ext cx="3338981" cy="1342433"/>
            </a:xfrm>
            <a:prstGeom prst="rect">
              <a:avLst/>
            </a:prstGeom>
          </p:spPr>
          <p:txBody>
            <a:bodyPr anchor="ctr" rtlCol="false" tIns="50800" lIns="50800" bIns="50800" rIns="50800"/>
            <a:lstStyle/>
            <a:p>
              <a:pPr algn="ctr">
                <a:lnSpc>
                  <a:spcPts val="2640"/>
                </a:lnSpc>
              </a:pPr>
            </a:p>
          </p:txBody>
        </p:sp>
      </p:grpSp>
      <p:sp>
        <p:nvSpPr>
          <p:cNvPr name="TextBox 22" id="22"/>
          <p:cNvSpPr txBox="true"/>
          <p:nvPr/>
        </p:nvSpPr>
        <p:spPr>
          <a:xfrm rot="0">
            <a:off x="3240507" y="3891754"/>
            <a:ext cx="11610961" cy="4345305"/>
          </a:xfrm>
          <a:prstGeom prst="rect">
            <a:avLst/>
          </a:prstGeom>
        </p:spPr>
        <p:txBody>
          <a:bodyPr anchor="t" rtlCol="false" tIns="0" lIns="0" bIns="0" rIns="0">
            <a:spAutoFit/>
          </a:bodyPr>
          <a:lstStyle/>
          <a:p>
            <a:pPr algn="just" marL="518160" indent="-259080" lvl="1">
              <a:lnSpc>
                <a:spcPts val="2640"/>
              </a:lnSpc>
              <a:buFont typeface="Arial"/>
              <a:buChar char="•"/>
            </a:pPr>
            <a:r>
              <a:rPr lang="en-US" sz="2400">
                <a:solidFill>
                  <a:srgbClr val="E08546"/>
                </a:solidFill>
                <a:latin typeface="Anantason SemiCondensed"/>
                <a:ea typeface="Anantason SemiCondensed"/>
                <a:cs typeface="Anantason SemiCondensed"/>
                <a:sym typeface="Anantason SemiCondensed"/>
              </a:rPr>
              <a:t>Laravel Boost: AI bawaan Laravel ini bakal ngebantu otomatisasi dan milihin konfigurasi terbaik. Jadi, kamu gak perlu pusing mikirin eror conflict pas install ini-itu, prosesnya jadi instan!</a:t>
            </a:r>
          </a:p>
          <a:p>
            <a:pPr algn="just" marL="518160" indent="-259080" lvl="1">
              <a:lnSpc>
                <a:spcPts val="2640"/>
              </a:lnSpc>
              <a:buFont typeface="Arial"/>
              <a:buChar char="•"/>
            </a:pPr>
            <a:r>
              <a:rPr lang="en-US" sz="2400">
                <a:solidFill>
                  <a:srgbClr val="E08546"/>
                </a:solidFill>
                <a:latin typeface="Anantason SemiCondensed"/>
                <a:ea typeface="Anantason SemiCondensed"/>
                <a:cs typeface="Anantason SemiCondensed"/>
                <a:sym typeface="Anantason SemiCondensed"/>
              </a:rPr>
              <a:t>prefersJsonResponses():Hasilnya, komunikasi antara Laravel (back-end) dan aplikasi lain (front-end/mobile) jadi lebih stabil dan gak gampang crash.</a:t>
            </a:r>
          </a:p>
          <a:p>
            <a:pPr algn="just" marL="518160" indent="-259080" lvl="1">
              <a:lnSpc>
                <a:spcPts val="2640"/>
              </a:lnSpc>
              <a:buFont typeface="Arial"/>
              <a:buChar char="•"/>
            </a:pPr>
            <a:r>
              <a:rPr lang="en-US" sz="2400">
                <a:solidFill>
                  <a:srgbClr val="E08546"/>
                </a:solidFill>
                <a:latin typeface="Anantason SemiCondensed"/>
                <a:ea typeface="Anantason SemiCondensed"/>
                <a:cs typeface="Anantason SemiCondensed"/>
                <a:sym typeface="Anantason SemiCondensed"/>
              </a:rPr>
              <a:t>Attribute Based Middleware: Cukup tulis kode pendek #[Middleware('auth')] tepat di atas fungsi controller kamu. Jauh lebih rapi, modern, dan gak bikin pusing nyari jalur routing-nya di mana.</a:t>
            </a:r>
          </a:p>
          <a:p>
            <a:pPr algn="just" marL="518160" indent="-259080" lvl="1">
              <a:lnSpc>
                <a:spcPts val="2640"/>
              </a:lnSpc>
              <a:buFont typeface="Arial"/>
              <a:buChar char="•"/>
            </a:pPr>
            <a:r>
              <a:rPr lang="en-US" sz="2400">
                <a:solidFill>
                  <a:srgbClr val="E08546"/>
                </a:solidFill>
                <a:latin typeface="Anantason SemiCondensed"/>
                <a:ea typeface="Anantason SemiCondensed"/>
                <a:cs typeface="Anantason SemiCondensed"/>
                <a:sym typeface="Anantason SemiCondensed"/>
              </a:rPr>
              <a:t>Modern Queue Routing: Pengaturan job queue yang lebih intuitif untuk pemrosesan laporan sirkulasi buku.</a:t>
            </a:r>
          </a:p>
          <a:p>
            <a:pPr algn="just" marL="518160" indent="-259080" lvl="1">
              <a:lnSpc>
                <a:spcPts val="2640"/>
              </a:lnSpc>
              <a:buFont typeface="Arial"/>
              <a:buChar char="•"/>
            </a:pPr>
            <a:r>
              <a:rPr lang="en-US" sz="2400">
                <a:solidFill>
                  <a:srgbClr val="E08546"/>
                </a:solidFill>
                <a:latin typeface="Anantason SemiCondensed"/>
                <a:ea typeface="Anantason SemiCondensed"/>
                <a:cs typeface="Anantason SemiCondensed"/>
                <a:sym typeface="Anantason SemiCondensed"/>
              </a:rPr>
              <a:t>Security Improvement: Implementasi PreventRequestForgery terbaru untuk perlindungan data yang lebih kuat.</a:t>
            </a:r>
          </a:p>
          <a:p>
            <a:pPr algn="just">
              <a:lnSpc>
                <a:spcPts val="264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08081" y="-2227281"/>
            <a:ext cx="20304161" cy="20304161"/>
          </a:xfrm>
          <a:custGeom>
            <a:avLst/>
            <a:gdLst/>
            <a:ahLst/>
            <a:cxnLst/>
            <a:rect r="r" b="b" t="t" l="l"/>
            <a:pathLst>
              <a:path h="20304161" w="20304161">
                <a:moveTo>
                  <a:pt x="0" y="0"/>
                </a:moveTo>
                <a:lnTo>
                  <a:pt x="20304162" y="0"/>
                </a:lnTo>
                <a:lnTo>
                  <a:pt x="20304162" y="20304161"/>
                </a:lnTo>
                <a:lnTo>
                  <a:pt x="0" y="20304161"/>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308369" y="-3721824"/>
            <a:ext cx="9671263" cy="17730649"/>
          </a:xfrm>
          <a:custGeom>
            <a:avLst/>
            <a:gdLst/>
            <a:ahLst/>
            <a:cxnLst/>
            <a:rect r="r" b="b" t="t" l="l"/>
            <a:pathLst>
              <a:path h="17730649" w="9671263">
                <a:moveTo>
                  <a:pt x="0" y="0"/>
                </a:moveTo>
                <a:lnTo>
                  <a:pt x="9671262" y="0"/>
                </a:lnTo>
                <a:lnTo>
                  <a:pt x="9671262" y="17730648"/>
                </a:lnTo>
                <a:lnTo>
                  <a:pt x="0" y="17730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606787" y="4260211"/>
            <a:ext cx="7899332" cy="1766578"/>
          </a:xfrm>
          <a:custGeom>
            <a:avLst/>
            <a:gdLst/>
            <a:ahLst/>
            <a:cxnLst/>
            <a:rect r="r" b="b" t="t" l="l"/>
            <a:pathLst>
              <a:path h="1766578" w="7899332">
                <a:moveTo>
                  <a:pt x="0" y="0"/>
                </a:moveTo>
                <a:lnTo>
                  <a:pt x="7899332" y="0"/>
                </a:lnTo>
                <a:lnTo>
                  <a:pt x="7899332" y="1766578"/>
                </a:lnTo>
                <a:lnTo>
                  <a:pt x="0" y="1766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5400000">
            <a:off x="13033608" y="4260211"/>
            <a:ext cx="7899332" cy="1766578"/>
          </a:xfrm>
          <a:custGeom>
            <a:avLst/>
            <a:gdLst/>
            <a:ahLst/>
            <a:cxnLst/>
            <a:rect r="r" b="b" t="t" l="l"/>
            <a:pathLst>
              <a:path h="1766578" w="7899332">
                <a:moveTo>
                  <a:pt x="0" y="1766578"/>
                </a:moveTo>
                <a:lnTo>
                  <a:pt x="7899332" y="1766578"/>
                </a:lnTo>
                <a:lnTo>
                  <a:pt x="7899332" y="0"/>
                </a:lnTo>
                <a:lnTo>
                  <a:pt x="0" y="0"/>
                </a:lnTo>
                <a:lnTo>
                  <a:pt x="0" y="176657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7663"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12446"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77229"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242012"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706795"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1578"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847663"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4312446"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77229"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242012"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1706795"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4171578"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3372998" y="1670871"/>
            <a:ext cx="11542004" cy="827405"/>
          </a:xfrm>
          <a:prstGeom prst="rect">
            <a:avLst/>
          </a:prstGeom>
        </p:spPr>
        <p:txBody>
          <a:bodyPr anchor="t" rtlCol="false" tIns="0" lIns="0" bIns="0" rIns="0">
            <a:spAutoFit/>
          </a:bodyPr>
          <a:lstStyle/>
          <a:p>
            <a:pPr algn="ctr" marL="0" indent="0" lvl="0">
              <a:lnSpc>
                <a:spcPts val="6490"/>
              </a:lnSpc>
            </a:pPr>
            <a:r>
              <a:rPr lang="en-US" sz="5900">
                <a:solidFill>
                  <a:srgbClr val="7A6E32"/>
                </a:solidFill>
                <a:latin typeface="Anton"/>
                <a:ea typeface="Anton"/>
                <a:cs typeface="Anton"/>
                <a:sym typeface="Anton"/>
              </a:rPr>
              <a:t>AI ASSISTENT DEVELEOPMENT</a:t>
            </a:r>
          </a:p>
        </p:txBody>
      </p:sp>
      <p:grpSp>
        <p:nvGrpSpPr>
          <p:cNvPr name="Group 19" id="19"/>
          <p:cNvGrpSpPr/>
          <p:nvPr/>
        </p:nvGrpSpPr>
        <p:grpSpPr>
          <a:xfrm rot="0">
            <a:off x="2805153" y="3317426"/>
            <a:ext cx="12677694" cy="5416183"/>
            <a:chOff x="0" y="0"/>
            <a:chExt cx="3338981" cy="1426484"/>
          </a:xfrm>
        </p:grpSpPr>
        <p:sp>
          <p:nvSpPr>
            <p:cNvPr name="Freeform 20" id="20"/>
            <p:cNvSpPr/>
            <p:nvPr/>
          </p:nvSpPr>
          <p:spPr>
            <a:xfrm flipH="false" flipV="false" rot="0">
              <a:off x="0" y="0"/>
              <a:ext cx="3338981" cy="1426484"/>
            </a:xfrm>
            <a:custGeom>
              <a:avLst/>
              <a:gdLst/>
              <a:ahLst/>
              <a:cxnLst/>
              <a:rect r="r" b="b" t="t" l="l"/>
              <a:pathLst>
                <a:path h="1426484" w="3338981">
                  <a:moveTo>
                    <a:pt x="21984" y="0"/>
                  </a:moveTo>
                  <a:lnTo>
                    <a:pt x="3316997" y="0"/>
                  </a:lnTo>
                  <a:cubicBezTo>
                    <a:pt x="3329138" y="0"/>
                    <a:pt x="3338981" y="9843"/>
                    <a:pt x="3338981" y="21984"/>
                  </a:cubicBezTo>
                  <a:lnTo>
                    <a:pt x="3338981" y="1404500"/>
                  </a:lnTo>
                  <a:cubicBezTo>
                    <a:pt x="3338981" y="1410331"/>
                    <a:pt x="3336665" y="1415922"/>
                    <a:pt x="3332542" y="1420045"/>
                  </a:cubicBezTo>
                  <a:cubicBezTo>
                    <a:pt x="3328419" y="1424168"/>
                    <a:pt x="3322827" y="1426484"/>
                    <a:pt x="3316997" y="1426484"/>
                  </a:cubicBezTo>
                  <a:lnTo>
                    <a:pt x="21984" y="1426484"/>
                  </a:lnTo>
                  <a:cubicBezTo>
                    <a:pt x="9843" y="1426484"/>
                    <a:pt x="0" y="1416642"/>
                    <a:pt x="0" y="1404500"/>
                  </a:cubicBezTo>
                  <a:lnTo>
                    <a:pt x="0" y="21984"/>
                  </a:lnTo>
                  <a:cubicBezTo>
                    <a:pt x="0" y="16154"/>
                    <a:pt x="2316" y="10562"/>
                    <a:pt x="6439" y="6439"/>
                  </a:cubicBezTo>
                  <a:cubicBezTo>
                    <a:pt x="10562" y="2316"/>
                    <a:pt x="16154" y="0"/>
                    <a:pt x="21984" y="0"/>
                  </a:cubicBezTo>
                  <a:close/>
                </a:path>
              </a:pathLst>
            </a:custGeom>
            <a:solidFill>
              <a:srgbClr val="FFFFFF"/>
            </a:solidFill>
            <a:ln w="38100" cap="rnd">
              <a:solidFill>
                <a:srgbClr val="E08546"/>
              </a:solidFill>
              <a:prstDash val="solid"/>
              <a:round/>
            </a:ln>
          </p:spPr>
        </p:sp>
        <p:sp>
          <p:nvSpPr>
            <p:cNvPr name="TextBox 21" id="21"/>
            <p:cNvSpPr txBox="true"/>
            <p:nvPr/>
          </p:nvSpPr>
          <p:spPr>
            <a:xfrm>
              <a:off x="0" y="-28575"/>
              <a:ext cx="3338981" cy="1455059"/>
            </a:xfrm>
            <a:prstGeom prst="rect">
              <a:avLst/>
            </a:prstGeom>
          </p:spPr>
          <p:txBody>
            <a:bodyPr anchor="ctr" rtlCol="false" tIns="50800" lIns="50800" bIns="50800" rIns="50800"/>
            <a:lstStyle/>
            <a:p>
              <a:pPr algn="ctr">
                <a:lnSpc>
                  <a:spcPts val="2640"/>
                </a:lnSpc>
              </a:pPr>
            </a:p>
          </p:txBody>
        </p:sp>
      </p:grpSp>
      <p:sp>
        <p:nvSpPr>
          <p:cNvPr name="TextBox 22" id="22"/>
          <p:cNvSpPr txBox="true"/>
          <p:nvPr/>
        </p:nvSpPr>
        <p:spPr>
          <a:xfrm rot="0">
            <a:off x="3277057" y="4041326"/>
            <a:ext cx="5672990" cy="3345180"/>
          </a:xfrm>
          <a:prstGeom prst="rect">
            <a:avLst/>
          </a:prstGeom>
        </p:spPr>
        <p:txBody>
          <a:bodyPr anchor="t" rtlCol="false" tIns="0" lIns="0" bIns="0" rIns="0">
            <a:spAutoFit/>
          </a:bodyPr>
          <a:lstStyle/>
          <a:p>
            <a:pPr algn="just">
              <a:lnSpc>
                <a:spcPts val="2640"/>
              </a:lnSpc>
            </a:pPr>
            <a:r>
              <a:rPr lang="en-US" sz="2400">
                <a:solidFill>
                  <a:srgbClr val="E08546"/>
                </a:solidFill>
                <a:latin typeface="Anantason SemiCondensed"/>
                <a:ea typeface="Anantason SemiCondensed"/>
                <a:cs typeface="Anantason SemiCondensed"/>
                <a:sym typeface="Anantason SemiCondensed"/>
              </a:rPr>
              <a:t>Proses Implementasi</a:t>
            </a:r>
          </a:p>
          <a:p>
            <a:pPr algn="just">
              <a:lnSpc>
                <a:spcPts val="2640"/>
              </a:lnSpc>
            </a:pPr>
            <a:r>
              <a:rPr lang="en-US" sz="2400">
                <a:solidFill>
                  <a:srgbClr val="E08546"/>
                </a:solidFill>
                <a:latin typeface="Anantason SemiCondensed"/>
                <a:ea typeface="Anantason SemiCondensed"/>
                <a:cs typeface="Anantason SemiCondensed"/>
                <a:sym typeface="Anantason SemiCondensed"/>
              </a:rPr>
              <a:t>Tools: Gemini AI &amp; Open Agent Manager.</a:t>
            </a:r>
          </a:p>
          <a:p>
            <a:pPr algn="just">
              <a:lnSpc>
                <a:spcPts val="2640"/>
              </a:lnSpc>
            </a:pPr>
            <a:r>
              <a:rPr lang="en-US" sz="2400">
                <a:solidFill>
                  <a:srgbClr val="E08546"/>
                </a:solidFill>
                <a:latin typeface="Anantason SemiCondensed"/>
                <a:ea typeface="Anantason SemiCondensed"/>
                <a:cs typeface="Anantason SemiCondensed"/>
                <a:sym typeface="Anantason SemiCondensed"/>
              </a:rPr>
              <a:t>Prompt: "Instalasi Laravel Boost dan optimasi middleware menggunakan PHP Attributes di Laravel 13."</a:t>
            </a:r>
          </a:p>
          <a:p>
            <a:pPr algn="just">
              <a:lnSpc>
                <a:spcPts val="2640"/>
              </a:lnSpc>
            </a:pPr>
          </a:p>
          <a:p>
            <a:pPr algn="just">
              <a:lnSpc>
                <a:spcPts val="2640"/>
              </a:lnSpc>
            </a:pPr>
            <a:r>
              <a:rPr lang="en-US" sz="2400">
                <a:solidFill>
                  <a:srgbClr val="E08546"/>
                </a:solidFill>
                <a:latin typeface="Anantason SemiCondensed"/>
                <a:ea typeface="Anantason SemiCondensed"/>
                <a:cs typeface="Anantason SemiCondensed"/>
                <a:sym typeface="Anantason SemiCondensed"/>
              </a:rPr>
              <a:t>AI digunakan untuk memahami breaking changes dari versi 12 ke 13 dan mempercepat penulisan syntax boilerplate.</a:t>
            </a:r>
          </a:p>
          <a:p>
            <a:pPr algn="just">
              <a:lnSpc>
                <a:spcPts val="2640"/>
              </a:lnSpc>
            </a:pPr>
          </a:p>
        </p:txBody>
      </p:sp>
      <p:sp>
        <p:nvSpPr>
          <p:cNvPr name="TextBox 23" id="23"/>
          <p:cNvSpPr txBox="true"/>
          <p:nvPr/>
        </p:nvSpPr>
        <p:spPr>
          <a:xfrm rot="0">
            <a:off x="9242012" y="4029077"/>
            <a:ext cx="5672990" cy="3011805"/>
          </a:xfrm>
          <a:prstGeom prst="rect">
            <a:avLst/>
          </a:prstGeom>
        </p:spPr>
        <p:txBody>
          <a:bodyPr anchor="t" rtlCol="false" tIns="0" lIns="0" bIns="0" rIns="0">
            <a:spAutoFit/>
          </a:bodyPr>
          <a:lstStyle/>
          <a:p>
            <a:pPr algn="just">
              <a:lnSpc>
                <a:spcPts val="2640"/>
              </a:lnSpc>
            </a:pPr>
            <a:r>
              <a:rPr lang="en-US" sz="2400">
                <a:solidFill>
                  <a:srgbClr val="E08546"/>
                </a:solidFill>
                <a:latin typeface="Anantason SemiCondensed"/>
                <a:ea typeface="Anantason SemiCondensed"/>
                <a:cs typeface="Anantason SemiCondensed"/>
                <a:sym typeface="Anantason SemiCondensed"/>
              </a:rPr>
              <a:t>Analisis Hasil AI</a:t>
            </a:r>
          </a:p>
          <a:p>
            <a:pPr algn="just">
              <a:lnSpc>
                <a:spcPts val="2640"/>
              </a:lnSpc>
            </a:pPr>
            <a:r>
              <a:rPr lang="en-US" sz="2400">
                <a:solidFill>
                  <a:srgbClr val="E08546"/>
                </a:solidFill>
                <a:latin typeface="Anantason SemiCondensed"/>
                <a:ea typeface="Anantason SemiCondensed"/>
                <a:cs typeface="Anantason SemiCondensed"/>
                <a:sym typeface="Anantason SemiCondensed"/>
              </a:rPr>
              <a:t>Kelebihan: Mengurangi waktu debugging secara signifikan dan memberikan referensi best-practice terbaru.</a:t>
            </a:r>
          </a:p>
          <a:p>
            <a:pPr algn="just">
              <a:lnSpc>
                <a:spcPts val="2640"/>
              </a:lnSpc>
            </a:pPr>
          </a:p>
          <a:p>
            <a:pPr algn="just">
              <a:lnSpc>
                <a:spcPts val="2640"/>
              </a:lnSpc>
            </a:pPr>
            <a:r>
              <a:rPr lang="en-US" sz="2400">
                <a:solidFill>
                  <a:srgbClr val="E08546"/>
                </a:solidFill>
                <a:latin typeface="Anantason SemiCondensed"/>
                <a:ea typeface="Anantason SemiCondensed"/>
                <a:cs typeface="Anantason SemiCondensed"/>
                <a:sym typeface="Anantason SemiCondensed"/>
              </a:rPr>
              <a:t>Kekurangan: Tetap memerlukan verifikasi manual agar logika bisnis tetap sesuai dengan kebutuhan perpustakaan.</a:t>
            </a:r>
          </a:p>
          <a:p>
            <a:pPr algn="just">
              <a:lnSpc>
                <a:spcPts val="264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5878" y="-1457822"/>
            <a:ext cx="20304161" cy="20304161"/>
          </a:xfrm>
          <a:custGeom>
            <a:avLst/>
            <a:gdLst/>
            <a:ahLst/>
            <a:cxnLst/>
            <a:rect r="r" b="b" t="t" l="l"/>
            <a:pathLst>
              <a:path h="20304161" w="20304161">
                <a:moveTo>
                  <a:pt x="0" y="0"/>
                </a:moveTo>
                <a:lnTo>
                  <a:pt x="20304161" y="0"/>
                </a:lnTo>
                <a:lnTo>
                  <a:pt x="20304161" y="20304161"/>
                </a:lnTo>
                <a:lnTo>
                  <a:pt x="0" y="20304161"/>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308369" y="-3721824"/>
            <a:ext cx="9671263" cy="17730649"/>
          </a:xfrm>
          <a:custGeom>
            <a:avLst/>
            <a:gdLst/>
            <a:ahLst/>
            <a:cxnLst/>
            <a:rect r="r" b="b" t="t" l="l"/>
            <a:pathLst>
              <a:path h="17730649" w="9671263">
                <a:moveTo>
                  <a:pt x="0" y="0"/>
                </a:moveTo>
                <a:lnTo>
                  <a:pt x="9671262" y="0"/>
                </a:lnTo>
                <a:lnTo>
                  <a:pt x="9671262" y="17730648"/>
                </a:lnTo>
                <a:lnTo>
                  <a:pt x="0" y="17730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606787" y="4260211"/>
            <a:ext cx="7899332" cy="1766578"/>
          </a:xfrm>
          <a:custGeom>
            <a:avLst/>
            <a:gdLst/>
            <a:ahLst/>
            <a:cxnLst/>
            <a:rect r="r" b="b" t="t" l="l"/>
            <a:pathLst>
              <a:path h="1766578" w="7899332">
                <a:moveTo>
                  <a:pt x="0" y="0"/>
                </a:moveTo>
                <a:lnTo>
                  <a:pt x="7899332" y="0"/>
                </a:lnTo>
                <a:lnTo>
                  <a:pt x="7899332" y="1766578"/>
                </a:lnTo>
                <a:lnTo>
                  <a:pt x="0" y="1766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5400000">
            <a:off x="13033608" y="4260211"/>
            <a:ext cx="7899332" cy="1766578"/>
          </a:xfrm>
          <a:custGeom>
            <a:avLst/>
            <a:gdLst/>
            <a:ahLst/>
            <a:cxnLst/>
            <a:rect r="r" b="b" t="t" l="l"/>
            <a:pathLst>
              <a:path h="1766578" w="7899332">
                <a:moveTo>
                  <a:pt x="0" y="1766578"/>
                </a:moveTo>
                <a:lnTo>
                  <a:pt x="7899332" y="1766578"/>
                </a:lnTo>
                <a:lnTo>
                  <a:pt x="7899332" y="0"/>
                </a:lnTo>
                <a:lnTo>
                  <a:pt x="0" y="0"/>
                </a:lnTo>
                <a:lnTo>
                  <a:pt x="0" y="176657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7663"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12446"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77229"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242012"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706795"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1578"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847663"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4312446"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77229"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242012"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1706795"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4171578"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Object 18" id="18"/>
          <p:cNvGraphicFramePr/>
          <p:nvPr/>
        </p:nvGraphicFramePr>
        <p:xfrm>
          <a:off x="2498266" y="2681190"/>
          <a:ext cx="16230600" cy="5747593"/>
        </p:xfrm>
        <a:graphic>
          <a:graphicData uri="http://schemas.openxmlformats.org/presentationml/2006/ole">
            <p:oleObj imgW="19469100" imgH="8991600" r:id="rId13" progId="Excel.Sheet.12" name="Worksheet">
              <p:embed/>
              <p:pic>
                <p:nvPicPr>
                  <p:cNvPr name="" id="0"/>
                  <p:cNvPicPr/>
                  <p:nvPr/>
                </p:nvPicPr>
                <p:blipFill>
                  <a:blip r:embed="rId12"/>
                  <a:stretch>
                    <a:fillRect/>
                  </a:stretch>
                </p:blipFill>
                <p:spPr>
                  <a:xfrm>
                    <a:off x="1270000" y="1270000"/>
                    <a:ext cx="1270000" cy="1270000"/>
                  </a:xfrm>
                  <a:prstGeom prst="rect"/>
                </p:spPr>
              </p:pic>
            </p:oleObj>
          </a:graphicData>
        </a:graphic>
      </p:graphicFrame>
      <p:sp>
        <p:nvSpPr>
          <p:cNvPr name="TextBox 19" id="19"/>
          <p:cNvSpPr txBox="true"/>
          <p:nvPr/>
        </p:nvSpPr>
        <p:spPr>
          <a:xfrm rot="0">
            <a:off x="5457357" y="1672184"/>
            <a:ext cx="7373287" cy="866775"/>
          </a:xfrm>
          <a:prstGeom prst="rect">
            <a:avLst/>
          </a:prstGeom>
        </p:spPr>
        <p:txBody>
          <a:bodyPr anchor="t" rtlCol="false" tIns="0" lIns="0" bIns="0" rIns="0">
            <a:spAutoFit/>
          </a:bodyPr>
          <a:lstStyle/>
          <a:p>
            <a:pPr algn="ctr" marL="0" indent="0" lvl="0">
              <a:lnSpc>
                <a:spcPts val="6600"/>
              </a:lnSpc>
            </a:pPr>
            <a:r>
              <a:rPr lang="en-US" sz="6000">
                <a:solidFill>
                  <a:srgbClr val="7A6E32"/>
                </a:solidFill>
                <a:latin typeface="Anton"/>
                <a:ea typeface="Anton"/>
                <a:cs typeface="Anton"/>
                <a:sym typeface="Anton"/>
              </a:rPr>
              <a:t>PERBEDAAN: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81078" y="-1153022"/>
            <a:ext cx="20304161" cy="20304161"/>
          </a:xfrm>
          <a:custGeom>
            <a:avLst/>
            <a:gdLst/>
            <a:ahLst/>
            <a:cxnLst/>
            <a:rect r="r" b="b" t="t" l="l"/>
            <a:pathLst>
              <a:path h="20304161" w="20304161">
                <a:moveTo>
                  <a:pt x="0" y="0"/>
                </a:moveTo>
                <a:lnTo>
                  <a:pt x="20304161" y="0"/>
                </a:lnTo>
                <a:lnTo>
                  <a:pt x="20304161" y="20304161"/>
                </a:lnTo>
                <a:lnTo>
                  <a:pt x="0" y="20304161"/>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308369" y="-3721824"/>
            <a:ext cx="9671263" cy="17730649"/>
          </a:xfrm>
          <a:custGeom>
            <a:avLst/>
            <a:gdLst/>
            <a:ahLst/>
            <a:cxnLst/>
            <a:rect r="r" b="b" t="t" l="l"/>
            <a:pathLst>
              <a:path h="17730649" w="9671263">
                <a:moveTo>
                  <a:pt x="0" y="0"/>
                </a:moveTo>
                <a:lnTo>
                  <a:pt x="9671262" y="0"/>
                </a:lnTo>
                <a:lnTo>
                  <a:pt x="9671262" y="17730648"/>
                </a:lnTo>
                <a:lnTo>
                  <a:pt x="0" y="17730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606787" y="4260211"/>
            <a:ext cx="7899332" cy="1766578"/>
          </a:xfrm>
          <a:custGeom>
            <a:avLst/>
            <a:gdLst/>
            <a:ahLst/>
            <a:cxnLst/>
            <a:rect r="r" b="b" t="t" l="l"/>
            <a:pathLst>
              <a:path h="1766578" w="7899332">
                <a:moveTo>
                  <a:pt x="0" y="0"/>
                </a:moveTo>
                <a:lnTo>
                  <a:pt x="7899332" y="0"/>
                </a:lnTo>
                <a:lnTo>
                  <a:pt x="7899332" y="1766578"/>
                </a:lnTo>
                <a:lnTo>
                  <a:pt x="0" y="1766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5400000">
            <a:off x="13033608" y="4260211"/>
            <a:ext cx="7899332" cy="1766578"/>
          </a:xfrm>
          <a:custGeom>
            <a:avLst/>
            <a:gdLst/>
            <a:ahLst/>
            <a:cxnLst/>
            <a:rect r="r" b="b" t="t" l="l"/>
            <a:pathLst>
              <a:path h="1766578" w="7899332">
                <a:moveTo>
                  <a:pt x="0" y="1766578"/>
                </a:moveTo>
                <a:lnTo>
                  <a:pt x="7899332" y="1766578"/>
                </a:lnTo>
                <a:lnTo>
                  <a:pt x="7899332" y="0"/>
                </a:lnTo>
                <a:lnTo>
                  <a:pt x="0" y="0"/>
                </a:lnTo>
                <a:lnTo>
                  <a:pt x="0" y="176657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7663"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12446"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77229"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242012"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706795"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1578"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847663"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4312446"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77229"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242012"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1706795"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4171578"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8" id="18"/>
          <p:cNvGrpSpPr/>
          <p:nvPr/>
        </p:nvGrpSpPr>
        <p:grpSpPr>
          <a:xfrm rot="0">
            <a:off x="2763250" y="2263390"/>
            <a:ext cx="6463272" cy="3415883"/>
            <a:chOff x="0" y="0"/>
            <a:chExt cx="1001330" cy="529210"/>
          </a:xfrm>
        </p:grpSpPr>
        <p:sp>
          <p:nvSpPr>
            <p:cNvPr name="Freeform 19" id="19"/>
            <p:cNvSpPr/>
            <p:nvPr/>
          </p:nvSpPr>
          <p:spPr>
            <a:xfrm flipH="false" flipV="false" rot="0">
              <a:off x="0" y="0"/>
              <a:ext cx="1001330" cy="529210"/>
            </a:xfrm>
            <a:custGeom>
              <a:avLst/>
              <a:gdLst/>
              <a:ahLst/>
              <a:cxnLst/>
              <a:rect r="r" b="b" t="t" l="l"/>
              <a:pathLst>
                <a:path h="529210" w="1001330">
                  <a:moveTo>
                    <a:pt x="27550" y="0"/>
                  </a:moveTo>
                  <a:lnTo>
                    <a:pt x="973780" y="0"/>
                  </a:lnTo>
                  <a:cubicBezTo>
                    <a:pt x="981087" y="0"/>
                    <a:pt x="988094" y="2903"/>
                    <a:pt x="993261" y="8069"/>
                  </a:cubicBezTo>
                  <a:cubicBezTo>
                    <a:pt x="998427" y="13236"/>
                    <a:pt x="1001330" y="20243"/>
                    <a:pt x="1001330" y="27550"/>
                  </a:cubicBezTo>
                  <a:lnTo>
                    <a:pt x="1001330" y="501660"/>
                  </a:lnTo>
                  <a:cubicBezTo>
                    <a:pt x="1001330" y="508966"/>
                    <a:pt x="998427" y="515974"/>
                    <a:pt x="993261" y="521140"/>
                  </a:cubicBezTo>
                  <a:cubicBezTo>
                    <a:pt x="988094" y="526307"/>
                    <a:pt x="981087" y="529210"/>
                    <a:pt x="973780" y="529210"/>
                  </a:cubicBezTo>
                  <a:lnTo>
                    <a:pt x="27550" y="529210"/>
                  </a:lnTo>
                  <a:cubicBezTo>
                    <a:pt x="20243" y="529210"/>
                    <a:pt x="13236" y="526307"/>
                    <a:pt x="8069" y="521140"/>
                  </a:cubicBezTo>
                  <a:cubicBezTo>
                    <a:pt x="2903" y="515974"/>
                    <a:pt x="0" y="508966"/>
                    <a:pt x="0" y="501660"/>
                  </a:cubicBezTo>
                  <a:lnTo>
                    <a:pt x="0" y="27550"/>
                  </a:lnTo>
                  <a:cubicBezTo>
                    <a:pt x="0" y="20243"/>
                    <a:pt x="2903" y="13236"/>
                    <a:pt x="8069" y="8069"/>
                  </a:cubicBezTo>
                  <a:cubicBezTo>
                    <a:pt x="13236" y="2903"/>
                    <a:pt x="20243" y="0"/>
                    <a:pt x="27550" y="0"/>
                  </a:cubicBezTo>
                  <a:close/>
                </a:path>
              </a:pathLst>
            </a:custGeom>
            <a:blipFill>
              <a:blip r:embed="rId12"/>
              <a:stretch>
                <a:fillRect l="-1941" t="0" r="-1941" b="0"/>
              </a:stretch>
            </a:blipFill>
          </p:spPr>
        </p:sp>
      </p:grpSp>
      <p:sp>
        <p:nvSpPr>
          <p:cNvPr name="TextBox 20" id="20"/>
          <p:cNvSpPr txBox="true"/>
          <p:nvPr/>
        </p:nvSpPr>
        <p:spPr>
          <a:xfrm rot="0">
            <a:off x="2929957" y="1272790"/>
            <a:ext cx="12882091" cy="990600"/>
          </a:xfrm>
          <a:prstGeom prst="rect">
            <a:avLst/>
          </a:prstGeom>
        </p:spPr>
        <p:txBody>
          <a:bodyPr anchor="t" rtlCol="false" tIns="0" lIns="0" bIns="0" rIns="0">
            <a:spAutoFit/>
          </a:bodyPr>
          <a:lstStyle/>
          <a:p>
            <a:pPr algn="ctr" marL="0" indent="0" lvl="0">
              <a:lnSpc>
                <a:spcPts val="6600"/>
              </a:lnSpc>
            </a:pPr>
            <a:r>
              <a:rPr lang="en-US" b="true" sz="6000">
                <a:solidFill>
                  <a:srgbClr val="7A6E32"/>
                </a:solidFill>
                <a:latin typeface="ITC Bauhaus Bold"/>
                <a:ea typeface="ITC Bauhaus Bold"/>
                <a:cs typeface="ITC Bauhaus Bold"/>
                <a:sym typeface="ITC Bauhaus Bold"/>
              </a:rPr>
              <a:t>CREENSHOOT PROJECT</a:t>
            </a:r>
          </a:p>
        </p:txBody>
      </p:sp>
      <p:grpSp>
        <p:nvGrpSpPr>
          <p:cNvPr name="Group 21" id="21"/>
          <p:cNvGrpSpPr/>
          <p:nvPr/>
        </p:nvGrpSpPr>
        <p:grpSpPr>
          <a:xfrm rot="0">
            <a:off x="9371003" y="2263390"/>
            <a:ext cx="6463272" cy="3415883"/>
            <a:chOff x="0" y="0"/>
            <a:chExt cx="1001330" cy="529210"/>
          </a:xfrm>
        </p:grpSpPr>
        <p:sp>
          <p:nvSpPr>
            <p:cNvPr name="Freeform 22" id="22"/>
            <p:cNvSpPr/>
            <p:nvPr/>
          </p:nvSpPr>
          <p:spPr>
            <a:xfrm flipH="false" flipV="false" rot="0">
              <a:off x="0" y="0"/>
              <a:ext cx="1001330" cy="529210"/>
            </a:xfrm>
            <a:custGeom>
              <a:avLst/>
              <a:gdLst/>
              <a:ahLst/>
              <a:cxnLst/>
              <a:rect r="r" b="b" t="t" l="l"/>
              <a:pathLst>
                <a:path h="529210" w="1001330">
                  <a:moveTo>
                    <a:pt x="27550" y="0"/>
                  </a:moveTo>
                  <a:lnTo>
                    <a:pt x="973780" y="0"/>
                  </a:lnTo>
                  <a:cubicBezTo>
                    <a:pt x="981087" y="0"/>
                    <a:pt x="988094" y="2903"/>
                    <a:pt x="993261" y="8069"/>
                  </a:cubicBezTo>
                  <a:cubicBezTo>
                    <a:pt x="998427" y="13236"/>
                    <a:pt x="1001330" y="20243"/>
                    <a:pt x="1001330" y="27550"/>
                  </a:cubicBezTo>
                  <a:lnTo>
                    <a:pt x="1001330" y="501660"/>
                  </a:lnTo>
                  <a:cubicBezTo>
                    <a:pt x="1001330" y="508966"/>
                    <a:pt x="998427" y="515974"/>
                    <a:pt x="993261" y="521140"/>
                  </a:cubicBezTo>
                  <a:cubicBezTo>
                    <a:pt x="988094" y="526307"/>
                    <a:pt x="981087" y="529210"/>
                    <a:pt x="973780" y="529210"/>
                  </a:cubicBezTo>
                  <a:lnTo>
                    <a:pt x="27550" y="529210"/>
                  </a:lnTo>
                  <a:cubicBezTo>
                    <a:pt x="20243" y="529210"/>
                    <a:pt x="13236" y="526307"/>
                    <a:pt x="8069" y="521140"/>
                  </a:cubicBezTo>
                  <a:cubicBezTo>
                    <a:pt x="2903" y="515974"/>
                    <a:pt x="0" y="508966"/>
                    <a:pt x="0" y="501660"/>
                  </a:cubicBezTo>
                  <a:lnTo>
                    <a:pt x="0" y="27550"/>
                  </a:lnTo>
                  <a:cubicBezTo>
                    <a:pt x="0" y="20243"/>
                    <a:pt x="2903" y="13236"/>
                    <a:pt x="8069" y="8069"/>
                  </a:cubicBezTo>
                  <a:cubicBezTo>
                    <a:pt x="13236" y="2903"/>
                    <a:pt x="20243" y="0"/>
                    <a:pt x="27550" y="0"/>
                  </a:cubicBezTo>
                  <a:close/>
                </a:path>
              </a:pathLst>
            </a:custGeom>
            <a:blipFill>
              <a:blip r:embed="rId13"/>
              <a:stretch>
                <a:fillRect l="-1814" t="0" r="-1814" b="0"/>
              </a:stretch>
            </a:blipFill>
          </p:spPr>
        </p:sp>
      </p:grpSp>
      <p:grpSp>
        <p:nvGrpSpPr>
          <p:cNvPr name="Group 23" id="23"/>
          <p:cNvGrpSpPr/>
          <p:nvPr/>
        </p:nvGrpSpPr>
        <p:grpSpPr>
          <a:xfrm rot="0">
            <a:off x="2763250" y="5842417"/>
            <a:ext cx="6463272" cy="3415883"/>
            <a:chOff x="0" y="0"/>
            <a:chExt cx="1001330" cy="529210"/>
          </a:xfrm>
        </p:grpSpPr>
        <p:sp>
          <p:nvSpPr>
            <p:cNvPr name="Freeform 24" id="24"/>
            <p:cNvSpPr/>
            <p:nvPr/>
          </p:nvSpPr>
          <p:spPr>
            <a:xfrm flipH="false" flipV="false" rot="0">
              <a:off x="0" y="0"/>
              <a:ext cx="1001330" cy="529210"/>
            </a:xfrm>
            <a:custGeom>
              <a:avLst/>
              <a:gdLst/>
              <a:ahLst/>
              <a:cxnLst/>
              <a:rect r="r" b="b" t="t" l="l"/>
              <a:pathLst>
                <a:path h="529210" w="1001330">
                  <a:moveTo>
                    <a:pt x="27550" y="0"/>
                  </a:moveTo>
                  <a:lnTo>
                    <a:pt x="973780" y="0"/>
                  </a:lnTo>
                  <a:cubicBezTo>
                    <a:pt x="981087" y="0"/>
                    <a:pt x="988094" y="2903"/>
                    <a:pt x="993261" y="8069"/>
                  </a:cubicBezTo>
                  <a:cubicBezTo>
                    <a:pt x="998427" y="13236"/>
                    <a:pt x="1001330" y="20243"/>
                    <a:pt x="1001330" y="27550"/>
                  </a:cubicBezTo>
                  <a:lnTo>
                    <a:pt x="1001330" y="501660"/>
                  </a:lnTo>
                  <a:cubicBezTo>
                    <a:pt x="1001330" y="508966"/>
                    <a:pt x="998427" y="515974"/>
                    <a:pt x="993261" y="521140"/>
                  </a:cubicBezTo>
                  <a:cubicBezTo>
                    <a:pt x="988094" y="526307"/>
                    <a:pt x="981087" y="529210"/>
                    <a:pt x="973780" y="529210"/>
                  </a:cubicBezTo>
                  <a:lnTo>
                    <a:pt x="27550" y="529210"/>
                  </a:lnTo>
                  <a:cubicBezTo>
                    <a:pt x="20243" y="529210"/>
                    <a:pt x="13236" y="526307"/>
                    <a:pt x="8069" y="521140"/>
                  </a:cubicBezTo>
                  <a:cubicBezTo>
                    <a:pt x="2903" y="515974"/>
                    <a:pt x="0" y="508966"/>
                    <a:pt x="0" y="501660"/>
                  </a:cubicBezTo>
                  <a:lnTo>
                    <a:pt x="0" y="27550"/>
                  </a:lnTo>
                  <a:cubicBezTo>
                    <a:pt x="0" y="20243"/>
                    <a:pt x="2903" y="13236"/>
                    <a:pt x="8069" y="8069"/>
                  </a:cubicBezTo>
                  <a:cubicBezTo>
                    <a:pt x="13236" y="2903"/>
                    <a:pt x="20243" y="0"/>
                    <a:pt x="27550" y="0"/>
                  </a:cubicBezTo>
                  <a:close/>
                </a:path>
              </a:pathLst>
            </a:custGeom>
            <a:blipFill>
              <a:blip r:embed="rId14"/>
              <a:stretch>
                <a:fillRect l="-1814" t="0" r="-1814" b="0"/>
              </a:stretch>
            </a:blipFill>
          </p:spPr>
        </p:sp>
      </p:grpSp>
      <p:grpSp>
        <p:nvGrpSpPr>
          <p:cNvPr name="Group 25" id="25"/>
          <p:cNvGrpSpPr/>
          <p:nvPr/>
        </p:nvGrpSpPr>
        <p:grpSpPr>
          <a:xfrm rot="0">
            <a:off x="9371003" y="5825916"/>
            <a:ext cx="6463272" cy="3415883"/>
            <a:chOff x="0" y="0"/>
            <a:chExt cx="1001330" cy="529210"/>
          </a:xfrm>
        </p:grpSpPr>
        <p:sp>
          <p:nvSpPr>
            <p:cNvPr name="Freeform 26" id="26"/>
            <p:cNvSpPr/>
            <p:nvPr/>
          </p:nvSpPr>
          <p:spPr>
            <a:xfrm flipH="false" flipV="false" rot="0">
              <a:off x="0" y="0"/>
              <a:ext cx="1001330" cy="529210"/>
            </a:xfrm>
            <a:custGeom>
              <a:avLst/>
              <a:gdLst/>
              <a:ahLst/>
              <a:cxnLst/>
              <a:rect r="r" b="b" t="t" l="l"/>
              <a:pathLst>
                <a:path h="529210" w="1001330">
                  <a:moveTo>
                    <a:pt x="27550" y="0"/>
                  </a:moveTo>
                  <a:lnTo>
                    <a:pt x="973780" y="0"/>
                  </a:lnTo>
                  <a:cubicBezTo>
                    <a:pt x="981087" y="0"/>
                    <a:pt x="988094" y="2903"/>
                    <a:pt x="993261" y="8069"/>
                  </a:cubicBezTo>
                  <a:cubicBezTo>
                    <a:pt x="998427" y="13236"/>
                    <a:pt x="1001330" y="20243"/>
                    <a:pt x="1001330" y="27550"/>
                  </a:cubicBezTo>
                  <a:lnTo>
                    <a:pt x="1001330" y="501660"/>
                  </a:lnTo>
                  <a:cubicBezTo>
                    <a:pt x="1001330" y="508966"/>
                    <a:pt x="998427" y="515974"/>
                    <a:pt x="993261" y="521140"/>
                  </a:cubicBezTo>
                  <a:cubicBezTo>
                    <a:pt x="988094" y="526307"/>
                    <a:pt x="981087" y="529210"/>
                    <a:pt x="973780" y="529210"/>
                  </a:cubicBezTo>
                  <a:lnTo>
                    <a:pt x="27550" y="529210"/>
                  </a:lnTo>
                  <a:cubicBezTo>
                    <a:pt x="20243" y="529210"/>
                    <a:pt x="13236" y="526307"/>
                    <a:pt x="8069" y="521140"/>
                  </a:cubicBezTo>
                  <a:cubicBezTo>
                    <a:pt x="2903" y="515974"/>
                    <a:pt x="0" y="508966"/>
                    <a:pt x="0" y="501660"/>
                  </a:cubicBezTo>
                  <a:lnTo>
                    <a:pt x="0" y="27550"/>
                  </a:lnTo>
                  <a:cubicBezTo>
                    <a:pt x="0" y="20243"/>
                    <a:pt x="2903" y="13236"/>
                    <a:pt x="8069" y="8069"/>
                  </a:cubicBezTo>
                  <a:cubicBezTo>
                    <a:pt x="13236" y="2903"/>
                    <a:pt x="20243" y="0"/>
                    <a:pt x="27550" y="0"/>
                  </a:cubicBezTo>
                  <a:close/>
                </a:path>
              </a:pathLst>
            </a:custGeom>
            <a:blipFill>
              <a:blip r:embed="rId15"/>
              <a:stretch>
                <a:fillRect l="-1814" t="0" r="-1814"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81078" y="-1153022"/>
            <a:ext cx="20304161" cy="20304161"/>
          </a:xfrm>
          <a:custGeom>
            <a:avLst/>
            <a:gdLst/>
            <a:ahLst/>
            <a:cxnLst/>
            <a:rect r="r" b="b" t="t" l="l"/>
            <a:pathLst>
              <a:path h="20304161" w="20304161">
                <a:moveTo>
                  <a:pt x="0" y="0"/>
                </a:moveTo>
                <a:lnTo>
                  <a:pt x="20304161" y="0"/>
                </a:lnTo>
                <a:lnTo>
                  <a:pt x="20304161" y="20304161"/>
                </a:lnTo>
                <a:lnTo>
                  <a:pt x="0" y="20304161"/>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308369" y="-3721824"/>
            <a:ext cx="9671263" cy="17730649"/>
          </a:xfrm>
          <a:custGeom>
            <a:avLst/>
            <a:gdLst/>
            <a:ahLst/>
            <a:cxnLst/>
            <a:rect r="r" b="b" t="t" l="l"/>
            <a:pathLst>
              <a:path h="17730649" w="9671263">
                <a:moveTo>
                  <a:pt x="0" y="0"/>
                </a:moveTo>
                <a:lnTo>
                  <a:pt x="9671262" y="0"/>
                </a:lnTo>
                <a:lnTo>
                  <a:pt x="9671262" y="17730648"/>
                </a:lnTo>
                <a:lnTo>
                  <a:pt x="0" y="17730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606787" y="4260211"/>
            <a:ext cx="7899332" cy="1766578"/>
          </a:xfrm>
          <a:custGeom>
            <a:avLst/>
            <a:gdLst/>
            <a:ahLst/>
            <a:cxnLst/>
            <a:rect r="r" b="b" t="t" l="l"/>
            <a:pathLst>
              <a:path h="1766578" w="7899332">
                <a:moveTo>
                  <a:pt x="0" y="0"/>
                </a:moveTo>
                <a:lnTo>
                  <a:pt x="7899332" y="0"/>
                </a:lnTo>
                <a:lnTo>
                  <a:pt x="7899332" y="1766578"/>
                </a:lnTo>
                <a:lnTo>
                  <a:pt x="0" y="1766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5400000">
            <a:off x="13033608" y="4260211"/>
            <a:ext cx="7899332" cy="1766578"/>
          </a:xfrm>
          <a:custGeom>
            <a:avLst/>
            <a:gdLst/>
            <a:ahLst/>
            <a:cxnLst/>
            <a:rect r="r" b="b" t="t" l="l"/>
            <a:pathLst>
              <a:path h="1766578" w="7899332">
                <a:moveTo>
                  <a:pt x="0" y="1766578"/>
                </a:moveTo>
                <a:lnTo>
                  <a:pt x="7899332" y="1766578"/>
                </a:lnTo>
                <a:lnTo>
                  <a:pt x="7899332" y="0"/>
                </a:lnTo>
                <a:lnTo>
                  <a:pt x="0" y="0"/>
                </a:lnTo>
                <a:lnTo>
                  <a:pt x="0" y="176657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7663"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12446"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77229"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242012"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706795"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1578"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847663"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4312446"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77229"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242012"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1706795"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4171578"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8" id="18"/>
          <p:cNvGrpSpPr/>
          <p:nvPr/>
        </p:nvGrpSpPr>
        <p:grpSpPr>
          <a:xfrm rot="0">
            <a:off x="2763250" y="2263390"/>
            <a:ext cx="6463272" cy="3415883"/>
            <a:chOff x="0" y="0"/>
            <a:chExt cx="1001330" cy="529210"/>
          </a:xfrm>
        </p:grpSpPr>
        <p:sp>
          <p:nvSpPr>
            <p:cNvPr name="Freeform 19" id="19"/>
            <p:cNvSpPr/>
            <p:nvPr/>
          </p:nvSpPr>
          <p:spPr>
            <a:xfrm flipH="false" flipV="false" rot="0">
              <a:off x="0" y="0"/>
              <a:ext cx="1001330" cy="529210"/>
            </a:xfrm>
            <a:custGeom>
              <a:avLst/>
              <a:gdLst/>
              <a:ahLst/>
              <a:cxnLst/>
              <a:rect r="r" b="b" t="t" l="l"/>
              <a:pathLst>
                <a:path h="529210" w="1001330">
                  <a:moveTo>
                    <a:pt x="27550" y="0"/>
                  </a:moveTo>
                  <a:lnTo>
                    <a:pt x="973780" y="0"/>
                  </a:lnTo>
                  <a:cubicBezTo>
                    <a:pt x="981087" y="0"/>
                    <a:pt x="988094" y="2903"/>
                    <a:pt x="993261" y="8069"/>
                  </a:cubicBezTo>
                  <a:cubicBezTo>
                    <a:pt x="998427" y="13236"/>
                    <a:pt x="1001330" y="20243"/>
                    <a:pt x="1001330" y="27550"/>
                  </a:cubicBezTo>
                  <a:lnTo>
                    <a:pt x="1001330" y="501660"/>
                  </a:lnTo>
                  <a:cubicBezTo>
                    <a:pt x="1001330" y="508966"/>
                    <a:pt x="998427" y="515974"/>
                    <a:pt x="993261" y="521140"/>
                  </a:cubicBezTo>
                  <a:cubicBezTo>
                    <a:pt x="988094" y="526307"/>
                    <a:pt x="981087" y="529210"/>
                    <a:pt x="973780" y="529210"/>
                  </a:cubicBezTo>
                  <a:lnTo>
                    <a:pt x="27550" y="529210"/>
                  </a:lnTo>
                  <a:cubicBezTo>
                    <a:pt x="20243" y="529210"/>
                    <a:pt x="13236" y="526307"/>
                    <a:pt x="8069" y="521140"/>
                  </a:cubicBezTo>
                  <a:cubicBezTo>
                    <a:pt x="2903" y="515974"/>
                    <a:pt x="0" y="508966"/>
                    <a:pt x="0" y="501660"/>
                  </a:cubicBezTo>
                  <a:lnTo>
                    <a:pt x="0" y="27550"/>
                  </a:lnTo>
                  <a:cubicBezTo>
                    <a:pt x="0" y="20243"/>
                    <a:pt x="2903" y="13236"/>
                    <a:pt x="8069" y="8069"/>
                  </a:cubicBezTo>
                  <a:cubicBezTo>
                    <a:pt x="13236" y="2903"/>
                    <a:pt x="20243" y="0"/>
                    <a:pt x="27550" y="0"/>
                  </a:cubicBezTo>
                  <a:close/>
                </a:path>
              </a:pathLst>
            </a:custGeom>
            <a:blipFill>
              <a:blip r:embed="rId12"/>
              <a:stretch>
                <a:fillRect l="0" t="-6172" r="0" b="-6172"/>
              </a:stretch>
            </a:blipFill>
          </p:spPr>
        </p:sp>
      </p:grpSp>
      <p:sp>
        <p:nvSpPr>
          <p:cNvPr name="TextBox 20" id="20"/>
          <p:cNvSpPr txBox="true"/>
          <p:nvPr/>
        </p:nvSpPr>
        <p:spPr>
          <a:xfrm rot="0">
            <a:off x="2929957" y="1272790"/>
            <a:ext cx="12882091" cy="990600"/>
          </a:xfrm>
          <a:prstGeom prst="rect">
            <a:avLst/>
          </a:prstGeom>
        </p:spPr>
        <p:txBody>
          <a:bodyPr anchor="t" rtlCol="false" tIns="0" lIns="0" bIns="0" rIns="0">
            <a:spAutoFit/>
          </a:bodyPr>
          <a:lstStyle/>
          <a:p>
            <a:pPr algn="ctr" marL="0" indent="0" lvl="0">
              <a:lnSpc>
                <a:spcPts val="6600"/>
              </a:lnSpc>
            </a:pPr>
            <a:r>
              <a:rPr lang="en-US" b="true" sz="6000">
                <a:solidFill>
                  <a:srgbClr val="7A6E32"/>
                </a:solidFill>
                <a:latin typeface="ITC Bauhaus Bold"/>
                <a:ea typeface="ITC Bauhaus Bold"/>
                <a:cs typeface="ITC Bauhaus Bold"/>
                <a:sym typeface="ITC Bauhaus Bold"/>
              </a:rPr>
              <a:t>SCREENSHOOT CODE</a:t>
            </a:r>
          </a:p>
        </p:txBody>
      </p:sp>
      <p:grpSp>
        <p:nvGrpSpPr>
          <p:cNvPr name="Group 21" id="21"/>
          <p:cNvGrpSpPr/>
          <p:nvPr/>
        </p:nvGrpSpPr>
        <p:grpSpPr>
          <a:xfrm rot="0">
            <a:off x="9371003" y="2263390"/>
            <a:ext cx="6463272" cy="3415883"/>
            <a:chOff x="0" y="0"/>
            <a:chExt cx="1001330" cy="529210"/>
          </a:xfrm>
        </p:grpSpPr>
        <p:sp>
          <p:nvSpPr>
            <p:cNvPr name="Freeform 22" id="22"/>
            <p:cNvSpPr/>
            <p:nvPr/>
          </p:nvSpPr>
          <p:spPr>
            <a:xfrm flipH="false" flipV="false" rot="0">
              <a:off x="0" y="0"/>
              <a:ext cx="1001330" cy="529210"/>
            </a:xfrm>
            <a:custGeom>
              <a:avLst/>
              <a:gdLst/>
              <a:ahLst/>
              <a:cxnLst/>
              <a:rect r="r" b="b" t="t" l="l"/>
              <a:pathLst>
                <a:path h="529210" w="1001330">
                  <a:moveTo>
                    <a:pt x="27550" y="0"/>
                  </a:moveTo>
                  <a:lnTo>
                    <a:pt x="973780" y="0"/>
                  </a:lnTo>
                  <a:cubicBezTo>
                    <a:pt x="981087" y="0"/>
                    <a:pt x="988094" y="2903"/>
                    <a:pt x="993261" y="8069"/>
                  </a:cubicBezTo>
                  <a:cubicBezTo>
                    <a:pt x="998427" y="13236"/>
                    <a:pt x="1001330" y="20243"/>
                    <a:pt x="1001330" y="27550"/>
                  </a:cubicBezTo>
                  <a:lnTo>
                    <a:pt x="1001330" y="501660"/>
                  </a:lnTo>
                  <a:cubicBezTo>
                    <a:pt x="1001330" y="508966"/>
                    <a:pt x="998427" y="515974"/>
                    <a:pt x="993261" y="521140"/>
                  </a:cubicBezTo>
                  <a:cubicBezTo>
                    <a:pt x="988094" y="526307"/>
                    <a:pt x="981087" y="529210"/>
                    <a:pt x="973780" y="529210"/>
                  </a:cubicBezTo>
                  <a:lnTo>
                    <a:pt x="27550" y="529210"/>
                  </a:lnTo>
                  <a:cubicBezTo>
                    <a:pt x="20243" y="529210"/>
                    <a:pt x="13236" y="526307"/>
                    <a:pt x="8069" y="521140"/>
                  </a:cubicBezTo>
                  <a:cubicBezTo>
                    <a:pt x="2903" y="515974"/>
                    <a:pt x="0" y="508966"/>
                    <a:pt x="0" y="501660"/>
                  </a:cubicBezTo>
                  <a:lnTo>
                    <a:pt x="0" y="27550"/>
                  </a:lnTo>
                  <a:cubicBezTo>
                    <a:pt x="0" y="20243"/>
                    <a:pt x="2903" y="13236"/>
                    <a:pt x="8069" y="8069"/>
                  </a:cubicBezTo>
                  <a:cubicBezTo>
                    <a:pt x="13236" y="2903"/>
                    <a:pt x="20243" y="0"/>
                    <a:pt x="27550" y="0"/>
                  </a:cubicBezTo>
                  <a:close/>
                </a:path>
              </a:pathLst>
            </a:custGeom>
            <a:blipFill>
              <a:blip r:embed="rId13"/>
              <a:stretch>
                <a:fillRect l="0" t="-23" r="0" b="-23"/>
              </a:stretch>
            </a:blipFill>
          </p:spPr>
        </p:sp>
      </p:grpSp>
      <p:grpSp>
        <p:nvGrpSpPr>
          <p:cNvPr name="Group 23" id="23"/>
          <p:cNvGrpSpPr/>
          <p:nvPr/>
        </p:nvGrpSpPr>
        <p:grpSpPr>
          <a:xfrm rot="0">
            <a:off x="2763250" y="5842417"/>
            <a:ext cx="6463272" cy="3415883"/>
            <a:chOff x="0" y="0"/>
            <a:chExt cx="1001330" cy="529210"/>
          </a:xfrm>
        </p:grpSpPr>
        <p:sp>
          <p:nvSpPr>
            <p:cNvPr name="Freeform 24" id="24"/>
            <p:cNvSpPr/>
            <p:nvPr/>
          </p:nvSpPr>
          <p:spPr>
            <a:xfrm flipH="false" flipV="false" rot="0">
              <a:off x="0" y="0"/>
              <a:ext cx="1001330" cy="529210"/>
            </a:xfrm>
            <a:custGeom>
              <a:avLst/>
              <a:gdLst/>
              <a:ahLst/>
              <a:cxnLst/>
              <a:rect r="r" b="b" t="t" l="l"/>
              <a:pathLst>
                <a:path h="529210" w="1001330">
                  <a:moveTo>
                    <a:pt x="27550" y="0"/>
                  </a:moveTo>
                  <a:lnTo>
                    <a:pt x="973780" y="0"/>
                  </a:lnTo>
                  <a:cubicBezTo>
                    <a:pt x="981087" y="0"/>
                    <a:pt x="988094" y="2903"/>
                    <a:pt x="993261" y="8069"/>
                  </a:cubicBezTo>
                  <a:cubicBezTo>
                    <a:pt x="998427" y="13236"/>
                    <a:pt x="1001330" y="20243"/>
                    <a:pt x="1001330" y="27550"/>
                  </a:cubicBezTo>
                  <a:lnTo>
                    <a:pt x="1001330" y="501660"/>
                  </a:lnTo>
                  <a:cubicBezTo>
                    <a:pt x="1001330" y="508966"/>
                    <a:pt x="998427" y="515974"/>
                    <a:pt x="993261" y="521140"/>
                  </a:cubicBezTo>
                  <a:cubicBezTo>
                    <a:pt x="988094" y="526307"/>
                    <a:pt x="981087" y="529210"/>
                    <a:pt x="973780" y="529210"/>
                  </a:cubicBezTo>
                  <a:lnTo>
                    <a:pt x="27550" y="529210"/>
                  </a:lnTo>
                  <a:cubicBezTo>
                    <a:pt x="20243" y="529210"/>
                    <a:pt x="13236" y="526307"/>
                    <a:pt x="8069" y="521140"/>
                  </a:cubicBezTo>
                  <a:cubicBezTo>
                    <a:pt x="2903" y="515974"/>
                    <a:pt x="0" y="508966"/>
                    <a:pt x="0" y="501660"/>
                  </a:cubicBezTo>
                  <a:lnTo>
                    <a:pt x="0" y="27550"/>
                  </a:lnTo>
                  <a:cubicBezTo>
                    <a:pt x="0" y="20243"/>
                    <a:pt x="2903" y="13236"/>
                    <a:pt x="8069" y="8069"/>
                  </a:cubicBezTo>
                  <a:cubicBezTo>
                    <a:pt x="13236" y="2903"/>
                    <a:pt x="20243" y="0"/>
                    <a:pt x="27550" y="0"/>
                  </a:cubicBezTo>
                  <a:close/>
                </a:path>
              </a:pathLst>
            </a:custGeom>
            <a:blipFill>
              <a:blip r:embed="rId14"/>
              <a:stretch>
                <a:fillRect l="0" t="-4398" r="0" b="-4398"/>
              </a:stretch>
            </a:blipFill>
          </p:spPr>
        </p:sp>
      </p:grpSp>
      <p:grpSp>
        <p:nvGrpSpPr>
          <p:cNvPr name="Group 25" id="25"/>
          <p:cNvGrpSpPr/>
          <p:nvPr/>
        </p:nvGrpSpPr>
        <p:grpSpPr>
          <a:xfrm rot="0">
            <a:off x="9371003" y="5825916"/>
            <a:ext cx="6463272" cy="3415883"/>
            <a:chOff x="0" y="0"/>
            <a:chExt cx="1001330" cy="529210"/>
          </a:xfrm>
        </p:grpSpPr>
        <p:sp>
          <p:nvSpPr>
            <p:cNvPr name="Freeform 26" id="26"/>
            <p:cNvSpPr/>
            <p:nvPr/>
          </p:nvSpPr>
          <p:spPr>
            <a:xfrm flipH="false" flipV="false" rot="0">
              <a:off x="0" y="0"/>
              <a:ext cx="1001330" cy="529210"/>
            </a:xfrm>
            <a:custGeom>
              <a:avLst/>
              <a:gdLst/>
              <a:ahLst/>
              <a:cxnLst/>
              <a:rect r="r" b="b" t="t" l="l"/>
              <a:pathLst>
                <a:path h="529210" w="1001330">
                  <a:moveTo>
                    <a:pt x="27550" y="0"/>
                  </a:moveTo>
                  <a:lnTo>
                    <a:pt x="973780" y="0"/>
                  </a:lnTo>
                  <a:cubicBezTo>
                    <a:pt x="981087" y="0"/>
                    <a:pt x="988094" y="2903"/>
                    <a:pt x="993261" y="8069"/>
                  </a:cubicBezTo>
                  <a:cubicBezTo>
                    <a:pt x="998427" y="13236"/>
                    <a:pt x="1001330" y="20243"/>
                    <a:pt x="1001330" y="27550"/>
                  </a:cubicBezTo>
                  <a:lnTo>
                    <a:pt x="1001330" y="501660"/>
                  </a:lnTo>
                  <a:cubicBezTo>
                    <a:pt x="1001330" y="508966"/>
                    <a:pt x="998427" y="515974"/>
                    <a:pt x="993261" y="521140"/>
                  </a:cubicBezTo>
                  <a:cubicBezTo>
                    <a:pt x="988094" y="526307"/>
                    <a:pt x="981087" y="529210"/>
                    <a:pt x="973780" y="529210"/>
                  </a:cubicBezTo>
                  <a:lnTo>
                    <a:pt x="27550" y="529210"/>
                  </a:lnTo>
                  <a:cubicBezTo>
                    <a:pt x="20243" y="529210"/>
                    <a:pt x="13236" y="526307"/>
                    <a:pt x="8069" y="521140"/>
                  </a:cubicBezTo>
                  <a:cubicBezTo>
                    <a:pt x="2903" y="515974"/>
                    <a:pt x="0" y="508966"/>
                    <a:pt x="0" y="501660"/>
                  </a:cubicBezTo>
                  <a:lnTo>
                    <a:pt x="0" y="27550"/>
                  </a:lnTo>
                  <a:cubicBezTo>
                    <a:pt x="0" y="20243"/>
                    <a:pt x="2903" y="13236"/>
                    <a:pt x="8069" y="8069"/>
                  </a:cubicBezTo>
                  <a:cubicBezTo>
                    <a:pt x="13236" y="2903"/>
                    <a:pt x="20243" y="0"/>
                    <a:pt x="27550" y="0"/>
                  </a:cubicBezTo>
                  <a:close/>
                </a:path>
              </a:pathLst>
            </a:custGeom>
            <a:blipFill>
              <a:blip r:embed="rId15"/>
              <a:stretch>
                <a:fillRect l="-5196" t="0" r="-5196"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81078" y="-1153022"/>
            <a:ext cx="20304161" cy="20304161"/>
          </a:xfrm>
          <a:custGeom>
            <a:avLst/>
            <a:gdLst/>
            <a:ahLst/>
            <a:cxnLst/>
            <a:rect r="r" b="b" t="t" l="l"/>
            <a:pathLst>
              <a:path h="20304161" w="20304161">
                <a:moveTo>
                  <a:pt x="0" y="0"/>
                </a:moveTo>
                <a:lnTo>
                  <a:pt x="20304161" y="0"/>
                </a:lnTo>
                <a:lnTo>
                  <a:pt x="20304161" y="20304161"/>
                </a:lnTo>
                <a:lnTo>
                  <a:pt x="0" y="20304161"/>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308369" y="-3721824"/>
            <a:ext cx="9671263" cy="17730649"/>
          </a:xfrm>
          <a:custGeom>
            <a:avLst/>
            <a:gdLst/>
            <a:ahLst/>
            <a:cxnLst/>
            <a:rect r="r" b="b" t="t" l="l"/>
            <a:pathLst>
              <a:path h="17730649" w="9671263">
                <a:moveTo>
                  <a:pt x="0" y="0"/>
                </a:moveTo>
                <a:lnTo>
                  <a:pt x="9671262" y="0"/>
                </a:lnTo>
                <a:lnTo>
                  <a:pt x="9671262" y="17730648"/>
                </a:lnTo>
                <a:lnTo>
                  <a:pt x="0" y="17730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606787" y="4260211"/>
            <a:ext cx="7899332" cy="1766578"/>
          </a:xfrm>
          <a:custGeom>
            <a:avLst/>
            <a:gdLst/>
            <a:ahLst/>
            <a:cxnLst/>
            <a:rect r="r" b="b" t="t" l="l"/>
            <a:pathLst>
              <a:path h="1766578" w="7899332">
                <a:moveTo>
                  <a:pt x="0" y="0"/>
                </a:moveTo>
                <a:lnTo>
                  <a:pt x="7899332" y="0"/>
                </a:lnTo>
                <a:lnTo>
                  <a:pt x="7899332" y="1766578"/>
                </a:lnTo>
                <a:lnTo>
                  <a:pt x="0" y="1766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5400000">
            <a:off x="13033608" y="4260211"/>
            <a:ext cx="7899332" cy="1766578"/>
          </a:xfrm>
          <a:custGeom>
            <a:avLst/>
            <a:gdLst/>
            <a:ahLst/>
            <a:cxnLst/>
            <a:rect r="r" b="b" t="t" l="l"/>
            <a:pathLst>
              <a:path h="1766578" w="7899332">
                <a:moveTo>
                  <a:pt x="0" y="1766578"/>
                </a:moveTo>
                <a:lnTo>
                  <a:pt x="7899332" y="1766578"/>
                </a:lnTo>
                <a:lnTo>
                  <a:pt x="7899332" y="0"/>
                </a:lnTo>
                <a:lnTo>
                  <a:pt x="0" y="0"/>
                </a:lnTo>
                <a:lnTo>
                  <a:pt x="0" y="176657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7663"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12446"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77229"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242012"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706795"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1578"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847663"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4312446"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77229"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242012"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1706795"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4171578"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8" id="18"/>
          <p:cNvGrpSpPr/>
          <p:nvPr/>
        </p:nvGrpSpPr>
        <p:grpSpPr>
          <a:xfrm rot="0">
            <a:off x="4534662" y="3915092"/>
            <a:ext cx="9672682" cy="5112078"/>
            <a:chOff x="0" y="0"/>
            <a:chExt cx="1001330" cy="529210"/>
          </a:xfrm>
        </p:grpSpPr>
        <p:sp>
          <p:nvSpPr>
            <p:cNvPr name="Freeform 19" id="19"/>
            <p:cNvSpPr/>
            <p:nvPr/>
          </p:nvSpPr>
          <p:spPr>
            <a:xfrm flipH="false" flipV="false" rot="0">
              <a:off x="0" y="0"/>
              <a:ext cx="1001330" cy="529210"/>
            </a:xfrm>
            <a:custGeom>
              <a:avLst/>
              <a:gdLst/>
              <a:ahLst/>
              <a:cxnLst/>
              <a:rect r="r" b="b" t="t" l="l"/>
              <a:pathLst>
                <a:path h="529210" w="1001330">
                  <a:moveTo>
                    <a:pt x="18409" y="0"/>
                  </a:moveTo>
                  <a:lnTo>
                    <a:pt x="982921" y="0"/>
                  </a:lnTo>
                  <a:cubicBezTo>
                    <a:pt x="993088" y="0"/>
                    <a:pt x="1001330" y="8242"/>
                    <a:pt x="1001330" y="18409"/>
                  </a:cubicBezTo>
                  <a:lnTo>
                    <a:pt x="1001330" y="510801"/>
                  </a:lnTo>
                  <a:cubicBezTo>
                    <a:pt x="1001330" y="520968"/>
                    <a:pt x="993088" y="529210"/>
                    <a:pt x="982921" y="529210"/>
                  </a:cubicBezTo>
                  <a:lnTo>
                    <a:pt x="18409" y="529210"/>
                  </a:lnTo>
                  <a:cubicBezTo>
                    <a:pt x="8242" y="529210"/>
                    <a:pt x="0" y="520968"/>
                    <a:pt x="0" y="510801"/>
                  </a:cubicBezTo>
                  <a:lnTo>
                    <a:pt x="0" y="18409"/>
                  </a:lnTo>
                  <a:cubicBezTo>
                    <a:pt x="0" y="8242"/>
                    <a:pt x="8242" y="0"/>
                    <a:pt x="18409" y="0"/>
                  </a:cubicBezTo>
                  <a:close/>
                </a:path>
              </a:pathLst>
            </a:custGeom>
            <a:blipFill>
              <a:blip r:embed="rId12"/>
              <a:stretch>
                <a:fillRect l="-4345" t="0" r="-4345" b="0"/>
              </a:stretch>
            </a:blipFill>
          </p:spPr>
        </p:sp>
      </p:grpSp>
      <p:sp>
        <p:nvSpPr>
          <p:cNvPr name="TextBox 20" id="20"/>
          <p:cNvSpPr txBox="true"/>
          <p:nvPr/>
        </p:nvSpPr>
        <p:spPr>
          <a:xfrm rot="0">
            <a:off x="2929957" y="1272790"/>
            <a:ext cx="12882091" cy="990600"/>
          </a:xfrm>
          <a:prstGeom prst="rect">
            <a:avLst/>
          </a:prstGeom>
        </p:spPr>
        <p:txBody>
          <a:bodyPr anchor="t" rtlCol="false" tIns="0" lIns="0" bIns="0" rIns="0">
            <a:spAutoFit/>
          </a:bodyPr>
          <a:lstStyle/>
          <a:p>
            <a:pPr algn="ctr" marL="0" indent="0" lvl="0">
              <a:lnSpc>
                <a:spcPts val="6600"/>
              </a:lnSpc>
            </a:pPr>
            <a:r>
              <a:rPr lang="en-US" b="true" sz="6000">
                <a:solidFill>
                  <a:srgbClr val="7A6E32"/>
                </a:solidFill>
                <a:latin typeface="ITC Bauhaus Bold"/>
                <a:ea typeface="ITC Bauhaus Bold"/>
                <a:cs typeface="ITC Bauhaus Bold"/>
                <a:sym typeface="ITC Bauhaus Bold"/>
              </a:rPr>
              <a:t>LINK GITHUB REPO</a:t>
            </a:r>
          </a:p>
        </p:txBody>
      </p:sp>
      <p:sp>
        <p:nvSpPr>
          <p:cNvPr name="TextBox 21" id="21"/>
          <p:cNvSpPr txBox="true"/>
          <p:nvPr/>
        </p:nvSpPr>
        <p:spPr>
          <a:xfrm rot="0">
            <a:off x="1784707" y="3181667"/>
            <a:ext cx="14718586" cy="733425"/>
          </a:xfrm>
          <a:prstGeom prst="rect">
            <a:avLst/>
          </a:prstGeom>
        </p:spPr>
        <p:txBody>
          <a:bodyPr anchor="t" rtlCol="false" tIns="0" lIns="0" bIns="0" rIns="0">
            <a:spAutoFit/>
          </a:bodyPr>
          <a:lstStyle/>
          <a:p>
            <a:pPr algn="ctr" marL="0" indent="0" lvl="0">
              <a:lnSpc>
                <a:spcPts val="4950"/>
              </a:lnSpc>
            </a:pPr>
            <a:r>
              <a:rPr lang="en-US" b="true" sz="4500">
                <a:solidFill>
                  <a:srgbClr val="7A6E32"/>
                </a:solidFill>
                <a:latin typeface="ITC Bauhaus Bold"/>
                <a:ea typeface="ITC Bauhaus Bold"/>
                <a:cs typeface="ITC Bauhaus Bold"/>
                <a:sym typeface="ITC Bauhaus Bold"/>
              </a:rPr>
              <a:t>HTTPS://GITHUB.COM/NOVANARYA/PERPUSTAKAAN28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90678" y="-1762622"/>
            <a:ext cx="20304161" cy="20304161"/>
          </a:xfrm>
          <a:custGeom>
            <a:avLst/>
            <a:gdLst/>
            <a:ahLst/>
            <a:cxnLst/>
            <a:rect r="r" b="b" t="t" l="l"/>
            <a:pathLst>
              <a:path h="20304161" w="20304161">
                <a:moveTo>
                  <a:pt x="0" y="0"/>
                </a:moveTo>
                <a:lnTo>
                  <a:pt x="20304161" y="0"/>
                </a:lnTo>
                <a:lnTo>
                  <a:pt x="20304161" y="20304161"/>
                </a:lnTo>
                <a:lnTo>
                  <a:pt x="0" y="20304161"/>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308369" y="-3721824"/>
            <a:ext cx="9671263" cy="17730649"/>
          </a:xfrm>
          <a:custGeom>
            <a:avLst/>
            <a:gdLst/>
            <a:ahLst/>
            <a:cxnLst/>
            <a:rect r="r" b="b" t="t" l="l"/>
            <a:pathLst>
              <a:path h="17730649" w="9671263">
                <a:moveTo>
                  <a:pt x="0" y="0"/>
                </a:moveTo>
                <a:lnTo>
                  <a:pt x="9671262" y="0"/>
                </a:lnTo>
                <a:lnTo>
                  <a:pt x="9671262" y="17730648"/>
                </a:lnTo>
                <a:lnTo>
                  <a:pt x="0" y="17730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606787" y="4260211"/>
            <a:ext cx="7899332" cy="1766578"/>
          </a:xfrm>
          <a:custGeom>
            <a:avLst/>
            <a:gdLst/>
            <a:ahLst/>
            <a:cxnLst/>
            <a:rect r="r" b="b" t="t" l="l"/>
            <a:pathLst>
              <a:path h="1766578" w="7899332">
                <a:moveTo>
                  <a:pt x="0" y="0"/>
                </a:moveTo>
                <a:lnTo>
                  <a:pt x="7899332" y="0"/>
                </a:lnTo>
                <a:lnTo>
                  <a:pt x="7899332" y="1766578"/>
                </a:lnTo>
                <a:lnTo>
                  <a:pt x="0" y="1766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5400000">
            <a:off x="13033608" y="4260211"/>
            <a:ext cx="7899332" cy="1766578"/>
          </a:xfrm>
          <a:custGeom>
            <a:avLst/>
            <a:gdLst/>
            <a:ahLst/>
            <a:cxnLst/>
            <a:rect r="r" b="b" t="t" l="l"/>
            <a:pathLst>
              <a:path h="1766578" w="7899332">
                <a:moveTo>
                  <a:pt x="0" y="1766578"/>
                </a:moveTo>
                <a:lnTo>
                  <a:pt x="7899332" y="1766578"/>
                </a:lnTo>
                <a:lnTo>
                  <a:pt x="7899332" y="0"/>
                </a:lnTo>
                <a:lnTo>
                  <a:pt x="0" y="0"/>
                </a:lnTo>
                <a:lnTo>
                  <a:pt x="0" y="176657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7663"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12446"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77229"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242012"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706795"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1578"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847663"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4312446"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77229"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242012"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1706795"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4171578"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4060985" y="1454146"/>
            <a:ext cx="10166029" cy="1123950"/>
          </a:xfrm>
          <a:prstGeom prst="rect">
            <a:avLst/>
          </a:prstGeom>
        </p:spPr>
        <p:txBody>
          <a:bodyPr anchor="t" rtlCol="false" tIns="0" lIns="0" bIns="0" rIns="0">
            <a:spAutoFit/>
          </a:bodyPr>
          <a:lstStyle/>
          <a:p>
            <a:pPr algn="ctr" marL="0" indent="0" lvl="0">
              <a:lnSpc>
                <a:spcPts val="7275"/>
              </a:lnSpc>
            </a:pPr>
            <a:r>
              <a:rPr lang="en-US" b="true" sz="7500">
                <a:solidFill>
                  <a:srgbClr val="7A6E32"/>
                </a:solidFill>
                <a:latin typeface="ITC Bauhaus Bold"/>
                <a:ea typeface="ITC Bauhaus Bold"/>
                <a:cs typeface="ITC Bauhaus Bold"/>
                <a:sym typeface="ITC Bauhaus Bold"/>
              </a:rPr>
              <a:t>KESIMPULAN</a:t>
            </a:r>
          </a:p>
        </p:txBody>
      </p:sp>
      <p:grpSp>
        <p:nvGrpSpPr>
          <p:cNvPr name="Group 19" id="19"/>
          <p:cNvGrpSpPr/>
          <p:nvPr/>
        </p:nvGrpSpPr>
        <p:grpSpPr>
          <a:xfrm rot="0">
            <a:off x="2957553" y="3743181"/>
            <a:ext cx="12677694" cy="4896637"/>
            <a:chOff x="0" y="0"/>
            <a:chExt cx="3338981" cy="1289649"/>
          </a:xfrm>
        </p:grpSpPr>
        <p:sp>
          <p:nvSpPr>
            <p:cNvPr name="Freeform 20" id="20"/>
            <p:cNvSpPr/>
            <p:nvPr/>
          </p:nvSpPr>
          <p:spPr>
            <a:xfrm flipH="false" flipV="false" rot="0">
              <a:off x="0" y="0"/>
              <a:ext cx="3338981" cy="1289649"/>
            </a:xfrm>
            <a:custGeom>
              <a:avLst/>
              <a:gdLst/>
              <a:ahLst/>
              <a:cxnLst/>
              <a:rect r="r" b="b" t="t" l="l"/>
              <a:pathLst>
                <a:path h="1289649" w="3338981">
                  <a:moveTo>
                    <a:pt x="21984" y="0"/>
                  </a:moveTo>
                  <a:lnTo>
                    <a:pt x="3316997" y="0"/>
                  </a:lnTo>
                  <a:cubicBezTo>
                    <a:pt x="3329138" y="0"/>
                    <a:pt x="3338981" y="9843"/>
                    <a:pt x="3338981" y="21984"/>
                  </a:cubicBezTo>
                  <a:lnTo>
                    <a:pt x="3338981" y="1267665"/>
                  </a:lnTo>
                  <a:cubicBezTo>
                    <a:pt x="3338981" y="1273496"/>
                    <a:pt x="3336665" y="1279087"/>
                    <a:pt x="3332542" y="1283210"/>
                  </a:cubicBezTo>
                  <a:cubicBezTo>
                    <a:pt x="3328419" y="1287333"/>
                    <a:pt x="3322827" y="1289649"/>
                    <a:pt x="3316997" y="1289649"/>
                  </a:cubicBezTo>
                  <a:lnTo>
                    <a:pt x="21984" y="1289649"/>
                  </a:lnTo>
                  <a:cubicBezTo>
                    <a:pt x="16154" y="1289649"/>
                    <a:pt x="10562" y="1287333"/>
                    <a:pt x="6439" y="1283210"/>
                  </a:cubicBezTo>
                  <a:cubicBezTo>
                    <a:pt x="2316" y="1279087"/>
                    <a:pt x="0" y="1273496"/>
                    <a:pt x="0" y="1267665"/>
                  </a:cubicBezTo>
                  <a:lnTo>
                    <a:pt x="0" y="21984"/>
                  </a:lnTo>
                  <a:cubicBezTo>
                    <a:pt x="0" y="16154"/>
                    <a:pt x="2316" y="10562"/>
                    <a:pt x="6439" y="6439"/>
                  </a:cubicBezTo>
                  <a:cubicBezTo>
                    <a:pt x="10562" y="2316"/>
                    <a:pt x="16154" y="0"/>
                    <a:pt x="21984" y="0"/>
                  </a:cubicBezTo>
                  <a:close/>
                </a:path>
              </a:pathLst>
            </a:custGeom>
            <a:solidFill>
              <a:srgbClr val="FFFFFF"/>
            </a:solidFill>
            <a:ln w="38100" cap="rnd">
              <a:solidFill>
                <a:srgbClr val="E08546"/>
              </a:solidFill>
              <a:prstDash val="solid"/>
              <a:round/>
            </a:ln>
          </p:spPr>
        </p:sp>
        <p:sp>
          <p:nvSpPr>
            <p:cNvPr name="TextBox 21" id="21"/>
            <p:cNvSpPr txBox="true"/>
            <p:nvPr/>
          </p:nvSpPr>
          <p:spPr>
            <a:xfrm>
              <a:off x="0" y="-28575"/>
              <a:ext cx="3338981" cy="1318224"/>
            </a:xfrm>
            <a:prstGeom prst="rect">
              <a:avLst/>
            </a:prstGeom>
          </p:spPr>
          <p:txBody>
            <a:bodyPr anchor="ctr" rtlCol="false" tIns="50800" lIns="50800" bIns="50800" rIns="50800"/>
            <a:lstStyle/>
            <a:p>
              <a:pPr algn="ctr">
                <a:lnSpc>
                  <a:spcPts val="2640"/>
                </a:lnSpc>
              </a:pPr>
            </a:p>
          </p:txBody>
        </p:sp>
      </p:grpSp>
      <p:sp>
        <p:nvSpPr>
          <p:cNvPr name="TextBox 22" id="22"/>
          <p:cNvSpPr txBox="true"/>
          <p:nvPr/>
        </p:nvSpPr>
        <p:spPr>
          <a:xfrm rot="0">
            <a:off x="3429457" y="4193726"/>
            <a:ext cx="11742415" cy="4011930"/>
          </a:xfrm>
          <a:prstGeom prst="rect">
            <a:avLst/>
          </a:prstGeom>
        </p:spPr>
        <p:txBody>
          <a:bodyPr anchor="t" rtlCol="false" tIns="0" lIns="0" bIns="0" rIns="0">
            <a:spAutoFit/>
          </a:bodyPr>
          <a:lstStyle/>
          <a:p>
            <a:pPr algn="l" marL="518160" indent="-259080" lvl="1">
              <a:lnSpc>
                <a:spcPts val="2640"/>
              </a:lnSpc>
              <a:buFont typeface="Arial"/>
              <a:buChar char="•"/>
            </a:pPr>
            <a:r>
              <a:rPr lang="en-US" sz="2400">
                <a:solidFill>
                  <a:srgbClr val="E08546"/>
                </a:solidFill>
                <a:latin typeface="Anantason SemiCondensed"/>
                <a:ea typeface="Anantason SemiCondensed"/>
                <a:cs typeface="Anantason SemiCondensed"/>
                <a:sym typeface="Anantason SemiCondensed"/>
              </a:rPr>
              <a:t>Pengalaman &amp; Workflow: Transisi ke Laravel 13 terasa sangat menyenangkan, terutama karena dibantu oleh AI dalam development (AI Boost) yang terbukti memangkas waktu pengerjaan projek dan mempercepat workflow.</a:t>
            </a:r>
          </a:p>
          <a:p>
            <a:pPr algn="l" marL="518160" indent="-259080" lvl="1">
              <a:lnSpc>
                <a:spcPts val="2640"/>
              </a:lnSpc>
              <a:buFont typeface="Arial"/>
              <a:buChar char="•"/>
            </a:pPr>
            <a:r>
              <a:rPr lang="en-US" sz="2400">
                <a:solidFill>
                  <a:srgbClr val="E08546"/>
                </a:solidFill>
                <a:latin typeface="Anantason SemiCondensed"/>
                <a:ea typeface="Anantason SemiCondensed"/>
                <a:cs typeface="Anantason SemiCondensed"/>
                <a:sym typeface="Anantason SemiCondensed"/>
              </a:rPr>
              <a:t>Fitur Laravel 13 yang menarik: Kehadiran AI SDK bawaan dan JSON API Standard menjadi fitur paling menarik yang membuat struktur API jadi jauh lebih rapi.</a:t>
            </a:r>
          </a:p>
          <a:p>
            <a:pPr algn="l" marL="518160" indent="-259080" lvl="1">
              <a:lnSpc>
                <a:spcPts val="2640"/>
              </a:lnSpc>
              <a:buFont typeface="Arial"/>
              <a:buChar char="•"/>
            </a:pPr>
            <a:r>
              <a:rPr lang="en-US" sz="2400">
                <a:solidFill>
                  <a:srgbClr val="E08546"/>
                </a:solidFill>
                <a:latin typeface="Anantason SemiCondensed"/>
                <a:ea typeface="Anantason SemiCondensed"/>
                <a:cs typeface="Anantason SemiCondensed"/>
                <a:sym typeface="Anantason SemiCondensed"/>
              </a:rPr>
              <a:t>Perbedaan Utama: Secara personal, perbedaan paling terasa ada pada penyesuaian versi PHP minimum yang digunakan.</a:t>
            </a:r>
          </a:p>
          <a:p>
            <a:pPr algn="l" marL="518160" indent="-259080" lvl="1">
              <a:lnSpc>
                <a:spcPts val="2640"/>
              </a:lnSpc>
              <a:buFont typeface="Arial"/>
              <a:buChar char="•"/>
            </a:pPr>
            <a:r>
              <a:rPr lang="en-US" sz="2400">
                <a:solidFill>
                  <a:srgbClr val="E08546"/>
                </a:solidFill>
                <a:latin typeface="Anantason SemiCondensed"/>
                <a:ea typeface="Anantason SemiCondensed"/>
                <a:cs typeface="Anantason SemiCondensed"/>
                <a:sym typeface="Anantason SemiCondensed"/>
              </a:rPr>
              <a:t>Kendala saat waktu pengerjaan: Sempat mengalami kendala saat switch versi PHP dari 8.x ke 8.3, khususnya muncul error pada konfigurasi web server (Laragon/XAMPP) sehingga harus melakukan fix dan instalasi ulang versi PHP.</a:t>
            </a:r>
          </a:p>
          <a:p>
            <a:pPr algn="l" marL="518160" indent="-259080" lvl="1">
              <a:lnSpc>
                <a:spcPts val="2640"/>
              </a:lnSpc>
              <a:buFont typeface="Arial"/>
              <a:buChar char="•"/>
            </a:pPr>
            <a:r>
              <a:rPr lang="en-US" sz="2400">
                <a:solidFill>
                  <a:srgbClr val="E08546"/>
                </a:solidFill>
                <a:latin typeface="Anantason SemiCondensed"/>
                <a:ea typeface="Anantason SemiCondensed"/>
                <a:cs typeface="Anantason SemiCondensed"/>
                <a:sym typeface="Anantason SemiCondensed"/>
              </a:rPr>
              <a:t>Insight Utama: Berhasil memahami pentingnya standardisasi API demi stabilitas sistem, serta merasakan langsung kemudahan migrasi berkat bantuan AI.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6278" y="-848222"/>
            <a:ext cx="20304161" cy="20304161"/>
          </a:xfrm>
          <a:custGeom>
            <a:avLst/>
            <a:gdLst/>
            <a:ahLst/>
            <a:cxnLst/>
            <a:rect r="r" b="b" t="t" l="l"/>
            <a:pathLst>
              <a:path h="20304161" w="20304161">
                <a:moveTo>
                  <a:pt x="0" y="0"/>
                </a:moveTo>
                <a:lnTo>
                  <a:pt x="20304161" y="0"/>
                </a:lnTo>
                <a:lnTo>
                  <a:pt x="20304161" y="20304161"/>
                </a:lnTo>
                <a:lnTo>
                  <a:pt x="0" y="20304161"/>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308369" y="-3721824"/>
            <a:ext cx="9671263" cy="17730649"/>
          </a:xfrm>
          <a:custGeom>
            <a:avLst/>
            <a:gdLst/>
            <a:ahLst/>
            <a:cxnLst/>
            <a:rect r="r" b="b" t="t" l="l"/>
            <a:pathLst>
              <a:path h="17730649" w="9671263">
                <a:moveTo>
                  <a:pt x="0" y="0"/>
                </a:moveTo>
                <a:lnTo>
                  <a:pt x="9671262" y="0"/>
                </a:lnTo>
                <a:lnTo>
                  <a:pt x="9671262" y="17730648"/>
                </a:lnTo>
                <a:lnTo>
                  <a:pt x="0" y="17730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606787" y="4260211"/>
            <a:ext cx="7899332" cy="1766578"/>
          </a:xfrm>
          <a:custGeom>
            <a:avLst/>
            <a:gdLst/>
            <a:ahLst/>
            <a:cxnLst/>
            <a:rect r="r" b="b" t="t" l="l"/>
            <a:pathLst>
              <a:path h="1766578" w="7899332">
                <a:moveTo>
                  <a:pt x="0" y="0"/>
                </a:moveTo>
                <a:lnTo>
                  <a:pt x="7899332" y="0"/>
                </a:lnTo>
                <a:lnTo>
                  <a:pt x="7899332" y="1766578"/>
                </a:lnTo>
                <a:lnTo>
                  <a:pt x="0" y="1766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5400000">
            <a:off x="13033608" y="4260211"/>
            <a:ext cx="7899332" cy="1766578"/>
          </a:xfrm>
          <a:custGeom>
            <a:avLst/>
            <a:gdLst/>
            <a:ahLst/>
            <a:cxnLst/>
            <a:rect r="r" b="b" t="t" l="l"/>
            <a:pathLst>
              <a:path h="1766578" w="7899332">
                <a:moveTo>
                  <a:pt x="0" y="1766578"/>
                </a:moveTo>
                <a:lnTo>
                  <a:pt x="7899332" y="1766578"/>
                </a:lnTo>
                <a:lnTo>
                  <a:pt x="7899332" y="0"/>
                </a:lnTo>
                <a:lnTo>
                  <a:pt x="0" y="0"/>
                </a:lnTo>
                <a:lnTo>
                  <a:pt x="0" y="176657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847663"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12446"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77229"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242012"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1706795"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171578" y="547888"/>
            <a:ext cx="2268759" cy="350626"/>
          </a:xfrm>
          <a:custGeom>
            <a:avLst/>
            <a:gdLst/>
            <a:ahLst/>
            <a:cxnLst/>
            <a:rect r="r" b="b" t="t" l="l"/>
            <a:pathLst>
              <a:path h="350626" w="2268759">
                <a:moveTo>
                  <a:pt x="0" y="0"/>
                </a:moveTo>
                <a:lnTo>
                  <a:pt x="2268759" y="0"/>
                </a:lnTo>
                <a:lnTo>
                  <a:pt x="2268759" y="350627"/>
                </a:lnTo>
                <a:lnTo>
                  <a:pt x="0" y="3506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847663"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4312446"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77229"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242012"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1706795"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4171578" y="9388441"/>
            <a:ext cx="2268759" cy="350626"/>
          </a:xfrm>
          <a:custGeom>
            <a:avLst/>
            <a:gdLst/>
            <a:ahLst/>
            <a:cxnLst/>
            <a:rect r="r" b="b" t="t" l="l"/>
            <a:pathLst>
              <a:path h="350626" w="2268759">
                <a:moveTo>
                  <a:pt x="0" y="0"/>
                </a:moveTo>
                <a:lnTo>
                  <a:pt x="2268759" y="0"/>
                </a:lnTo>
                <a:lnTo>
                  <a:pt x="2268759" y="350626"/>
                </a:lnTo>
                <a:lnTo>
                  <a:pt x="0" y="35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2851428" y="2443487"/>
            <a:ext cx="12623297" cy="5276157"/>
          </a:xfrm>
          <a:prstGeom prst="rect">
            <a:avLst/>
          </a:prstGeom>
        </p:spPr>
        <p:txBody>
          <a:bodyPr anchor="t" rtlCol="false" tIns="0" lIns="0" bIns="0" rIns="0">
            <a:spAutoFit/>
          </a:bodyPr>
          <a:lstStyle/>
          <a:p>
            <a:pPr algn="ctr" marL="0" indent="0" lvl="0">
              <a:lnSpc>
                <a:spcPts val="13139"/>
              </a:lnSpc>
            </a:pPr>
            <a:r>
              <a:rPr lang="en-US" b="true" sz="11945">
                <a:solidFill>
                  <a:srgbClr val="7A6E32"/>
                </a:solidFill>
                <a:latin typeface="ITC Bauhaus Bold"/>
                <a:ea typeface="ITC Bauhaus Bold"/>
                <a:cs typeface="ITC Bauhaus Bold"/>
                <a:sym typeface="ITC Bauhaus Bold"/>
              </a:rPr>
              <a:t>TERIMA KASIH TELAH MEMBACA PPT SAYA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DAHKuPZ_2v4</dc:identifier>
  <dcterms:modified xsi:type="dcterms:W3CDTF">2011-08-01T06:04:30Z</dcterms:modified>
  <cp:revision>1</cp:revision>
  <dc:title>Latihan Praktikum Laravel 13</dc:title>
</cp:coreProperties>
</file>